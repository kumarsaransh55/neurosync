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659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0" b="1" i="0">
                <a:solidFill>
                  <a:srgbClr val="FFFFFF"/>
                </a:solidFill>
                <a:latin typeface="Segoe UI"/>
              </a:rPr>
              <a:t>NeuroSync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0632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22C55E"/>
                </a:solidFill>
                <a:latin typeface="Segoe UI"/>
              </a:rPr>
              <a:t>Work, in sync with how you think.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794760"/>
            <a:ext cx="9875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D3E3DB"/>
                </a:solidFill>
                <a:latin typeface="Segoe UI"/>
              </a:rPr>
              <a:t>An inclusive work companion for neurodivergent employees (ADHD &amp; dyslexia)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8064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9B4B0"/>
                </a:solidFill>
                <a:latin typeface="Segoe UI"/>
              </a:rPr>
              <a:t>Accenture HumanEdge Hackathon — Final Jury,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6534"/>
                </a:solidFill>
                <a:latin typeface="Segoe UI"/>
              </a:rPr>
              <a:t>THE HUMAN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86384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11827"/>
                </a:solidFill>
                <a:latin typeface="Segoe UI"/>
              </a:rPr>
              <a:t>Meet Aanya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3383280" cy="4206240"/>
          </a:xfrm>
          <a:prstGeom prst="roundRect">
            <a:avLst>
              <a:gd name="adj" fmla="val 6000"/>
            </a:avLst>
          </a:prstGeom>
          <a:solidFill>
            <a:srgbClr val="0F3D2E"/>
          </a:solidFill>
          <a:ln>
            <a:noFill/>
          </a:ln>
          <a:effectLst>
            <a:outerShdw blurRad="90000" dist="38100" dir="5400000" rotWithShape="0">
              <a:srgbClr val="11182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6400"/>
              </a:spcAft>
            </a:pPr>
            <a:r>
              <a:rPr sz="60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Aanya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DCFCE7"/>
                </a:solidFill>
                <a:latin typeface="Segoe UI"/>
              </a:rPr>
              <a:t>A talented analyst.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She has ADHD and dyslexia.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2C55E"/>
                </a:solidFill>
                <a:latin typeface="Segoe UI"/>
              </a:rPr>
              <a:t>Monday, 9 AM: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50" b="0" i="0">
                <a:solidFill>
                  <a:srgbClr val="D3E3DB"/>
                </a:solidFill>
                <a:latin typeface="Segoe UI"/>
              </a:rPr>
              <a:t>38 unread emails. 4 chat threads. 6 tickets. One email hides three tasks and a Thursday deadline in paragraph three.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1">
                <a:solidFill>
                  <a:srgbClr val="FFFFFF"/>
                </a:solidFill>
                <a:latin typeface="Segoe UI"/>
              </a:rPr>
              <a:t>An hour later — she still hasn’t started.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214884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3400" b="1" i="0">
                <a:solidFill>
                  <a:srgbClr val="0F3D2E"/>
                </a:solidFill>
                <a:latin typeface="Segoe UI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6280" y="182880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11827"/>
                </a:solidFill>
                <a:latin typeface="Segoe UI"/>
              </a:rPr>
              <a:t>A normal morning, on repeat: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2194560"/>
            <a:ext cx="1207008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100" dir="5400000" rotWithShape="0">
              <a:srgbClr val="11182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111827"/>
                </a:solidFill>
                <a:latin typeface="Segoe UI"/>
              </a:rPr>
              <a:t>Inbox
overload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715000" y="2610611"/>
            <a:ext cx="310896" cy="219456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89320" y="2194560"/>
            <a:ext cx="1207008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100" dir="5400000" rotWithShape="0">
              <a:srgbClr val="11182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111827"/>
                </a:solidFill>
                <a:latin typeface="Segoe UI"/>
              </a:rPr>
              <a:t>Re-read &amp;
stall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178040" y="2610611"/>
            <a:ext cx="310896" cy="219456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52360" y="2194560"/>
            <a:ext cx="1207008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100" dir="5400000" rotWithShape="0">
              <a:srgbClr val="11182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111827"/>
                </a:solidFill>
                <a:latin typeface="Segoe UI"/>
              </a:rPr>
              <a:t>Distraction
pulls away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641080" y="2610611"/>
            <a:ext cx="310896" cy="219456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15400" y="2194560"/>
            <a:ext cx="1207008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100" dir="5400000" rotWithShape="0">
              <a:srgbClr val="11182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111827"/>
                </a:solidFill>
                <a:latin typeface="Segoe UI"/>
              </a:rPr>
              <a:t>Missed
priority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0104120" y="2610611"/>
            <a:ext cx="310896" cy="219456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378440" y="2194560"/>
            <a:ext cx="1207008" cy="1051560"/>
          </a:xfrm>
          <a:prstGeom prst="roundRect">
            <a:avLst>
              <a:gd name="adj" fmla="val 12000"/>
            </a:avLst>
          </a:prstGeom>
          <a:solidFill>
            <a:srgbClr val="FEE2E2"/>
          </a:solidFill>
          <a:ln>
            <a:noFill/>
          </a:ln>
          <a:effectLst>
            <a:outerShdw blurRad="90000" dist="38100" dir="5400000" rotWithShape="0">
              <a:srgbClr val="11182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991B1B"/>
                </a:solidFill>
                <a:latin typeface="Segoe UI"/>
              </a:rPr>
              <a:t>Burnout &amp;
masking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3703320"/>
            <a:ext cx="6446520" cy="86868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3822191"/>
            <a:ext cx="61264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F3D2E"/>
                </a:solidFill>
                <a:latin typeface="Segoe UI"/>
              </a:rPr>
              <a:t>This isn’t about Aanya’s ability.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66534"/>
                </a:solidFill>
                <a:latin typeface="Segoe UI"/>
              </a:rPr>
              <a:t>Her workday was built for a brain that isn’t hers.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NeuroSync · Work, in sync with how you think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6534"/>
                </a:solidFill>
                <a:latin typeface="Segoe U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86384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11827"/>
                </a:solidFill>
                <a:latin typeface="Segoe UI"/>
              </a:rPr>
              <a:t>A hidden ‘cognitive tax’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111827"/>
                </a:solidFill>
                <a:latin typeface="Segoe UI"/>
              </a:rPr>
              <a:t>Turning workplace text into </a:t>
            </a:r>
            <a:r>
              <a:rPr sz="1800" b="1" i="0">
                <a:solidFill>
                  <a:srgbClr val="166534"/>
                </a:solidFill>
                <a:latin typeface="Segoe UI"/>
              </a:rPr>
              <a:t>started, finished work</a:t>
            </a:r>
            <a:r>
              <a:rPr sz="1800" b="0" i="0">
                <a:solidFill>
                  <a:srgbClr val="111827"/>
                </a:solidFill>
                <a:latin typeface="Segoe UI"/>
              </a:rPr>
              <a:t> costs employees with ADHD and dyslexia far more energy —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6B7280"/>
                </a:solidFill>
                <a:latin typeface="Segoe UI"/>
              </a:rPr>
              <a:t>not because of capability, but because mainstream tools assume </a:t>
            </a:r>
            <a:r>
              <a:rPr sz="1600" b="0" i="1">
                <a:solidFill>
                  <a:srgbClr val="6B7280"/>
                </a:solidFill>
                <a:latin typeface="Segoe UI"/>
              </a:rPr>
              <a:t>one way of processing information.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971800"/>
            <a:ext cx="260604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100" dir="5400000" rotWithShape="0">
              <a:srgbClr val="11182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111827"/>
                </a:solidFill>
                <a:latin typeface="Segoe UI"/>
              </a:rPr>
              <a:t>Missed priorities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6B7280"/>
                </a:solidFill>
                <a:latin typeface="Segoe UI"/>
              </a:rPr>
              <a:t>Tasks &amp; deadlines buried in long emails, chats, tickets.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971800"/>
            <a:ext cx="109728" cy="169164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29000" y="2971800"/>
            <a:ext cx="260604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100" dir="5400000" rotWithShape="0">
              <a:srgbClr val="11182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111827"/>
                </a:solidFill>
                <a:latin typeface="Segoe UI"/>
              </a:rPr>
              <a:t>Cognitive overload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6B7280"/>
                </a:solidFill>
                <a:latin typeface="Segoe UI"/>
              </a:rPr>
              <a:t>Constant re-reading and context-switching drains focus.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2971800"/>
            <a:ext cx="109728" cy="169164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2971800"/>
            <a:ext cx="260604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100" dir="5400000" rotWithShape="0">
              <a:srgbClr val="11182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111827"/>
                </a:solidFill>
                <a:latin typeface="Segoe UI"/>
              </a:rPr>
              <a:t>Emotional burnout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6B7280"/>
                </a:solidFill>
                <a:latin typeface="Segoe UI"/>
              </a:rPr>
              <a:t>Masking the struggle leads to absence and attrition.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971800"/>
            <a:ext cx="109728" cy="169164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006840" y="2971800"/>
            <a:ext cx="260604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100" dir="5400000" rotWithShape="0">
              <a:srgbClr val="11182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111827"/>
                </a:solidFill>
                <a:latin typeface="Segoe UI"/>
              </a:rPr>
              <a:t>Lost productivity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6B7280"/>
                </a:solidFill>
                <a:latin typeface="Segoe UI"/>
              </a:rPr>
              <a:t>Wasted talent — for the person and the business.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06840" y="2971800"/>
            <a:ext cx="109728" cy="169164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4983480"/>
            <a:ext cx="10908792" cy="777240"/>
          </a:xfrm>
          <a:prstGeom prst="roundRect">
            <a:avLst>
              <a:gd name="adj" fmla="val 10000"/>
            </a:avLst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102352"/>
            <a:ext cx="104241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22C55E"/>
                </a:solidFill>
                <a:latin typeface="Segoe UI"/>
              </a:rPr>
              <a:t>51%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  of neurodivergent employees have taken time off due to their condition.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779008"/>
            <a:ext cx="10424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B7280"/>
                </a:solidFill>
                <a:latin typeface="Segoe UI"/>
              </a:rPr>
              <a:t>Source: Neurodiversity in the Workplace statistics, mydisabilityjobs.com (2025) — see appendix.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NeuroSync · Work, in sync with how you think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6534"/>
                </a:solidFill>
                <a:latin typeface="Segoe UI"/>
              </a:rPr>
              <a:t>WHO IT’S FOR — AND 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86384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11827"/>
                </a:solidFill>
                <a:latin typeface="Segoe UI"/>
              </a:rPr>
              <a:t>A specific audience, a connected problem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3520440" cy="2468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100" dir="5400000" rotWithShape="0">
              <a:srgbClr val="11182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000" b="1" i="0">
                <a:solidFill>
                  <a:srgbClr val="166534"/>
                </a:solidFill>
                <a:latin typeface="Segoe UI"/>
              </a:rPr>
              <a:t>15–20%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111827"/>
                </a:solidFill>
                <a:latin typeface="Segoe UI"/>
              </a:rPr>
              <a:t>of people are neurodivergent (ADHD, autism, dyslexia, dyspraxia).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920240"/>
            <a:ext cx="3520440" cy="2468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100" dir="5400000" rotWithShape="0">
              <a:srgbClr val="11182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000" b="1" i="0">
                <a:solidFill>
                  <a:srgbClr val="14532D"/>
                </a:solidFill>
                <a:latin typeface="Segoe UI"/>
              </a:rPr>
              <a:t>~1 in 2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111827"/>
                </a:solidFill>
                <a:latin typeface="Segoe UI"/>
              </a:rPr>
              <a:t>people with ADHD also have dyslexia — so it’s ONE connected problem, not two.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19" y="1920240"/>
            <a:ext cx="3520440" cy="2468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100" dir="5400000" rotWithShape="0">
              <a:srgbClr val="11182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000" b="1" i="0">
                <a:solidFill>
                  <a:srgbClr val="0F3D2E"/>
                </a:solidFill>
                <a:latin typeface="Segoe UI"/>
              </a:rPr>
              <a:t>Higher
revenue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111827"/>
                </a:solidFill>
                <a:latin typeface="Segoe UI"/>
              </a:rPr>
              <a:t>Accenture research: disability-inclusion leaders out-performed peers on revenue &amp; profitability.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1772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104241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3D2E"/>
                </a:solidFill>
                <a:latin typeface="Segoe UI"/>
              </a:rPr>
              <a:t>Our user: Accenture employees with ADHD and/or dyslexia.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66534"/>
                </a:solidFill>
                <a:latin typeface="Segoe UI"/>
              </a:rPr>
              <a:t>Accenture’s own research already proved inclusion pays — NeuroSync operationalises it for the neurodivergent talent already inside our walls.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797296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B7280"/>
                </a:solidFill>
                <a:latin typeface="Segoe UI"/>
              </a:rPr>
              <a:t>Sources: Accenture ‘Getting to Equal: The Disability Inclusion Advantage’ (2018); prevalence &amp; comorbidity: mydisabilityjobs.com (2025).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NeuroSync · Work, in sync with how you think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6534"/>
                </a:solidFill>
                <a:latin typeface="Segoe UI"/>
              </a:rPr>
              <a:t>WHAT MAKES NEUROSYNC DIFFERENT?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86384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11827"/>
                </a:solidFill>
                <a:latin typeface="Segoe UI"/>
              </a:rPr>
              <a:t>Why not just use ChatGPT or Copilot?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6B7280"/>
                </a:solidFill>
                <a:latin typeface="Segoe UI"/>
              </a:rPr>
              <a:t>Generic AI gives </a:t>
            </a:r>
            <a:r>
              <a:rPr sz="1400" b="1" i="0">
                <a:solidFill>
                  <a:srgbClr val="111827"/>
                </a:solidFill>
                <a:latin typeface="Segoe UI"/>
              </a:rPr>
              <a:t>everyone the same answer</a:t>
            </a:r>
            <a:r>
              <a:rPr sz="1400" b="0" i="0">
                <a:solidFill>
                  <a:srgbClr val="6B7280"/>
                </a:solidFill>
                <a:latin typeface="Segoe UI"/>
              </a:rPr>
              <a:t>. NeuroSync does three things they don’t do together: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352044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100" dir="5400000" rotWithShape="0">
              <a:srgbClr val="11182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6060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22C55E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3429000"/>
            <a:ext cx="297180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166534"/>
                </a:solidFill>
                <a:latin typeface="Segoe UI"/>
              </a:rPr>
              <a:t>Personalisation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50" b="0" i="1">
                <a:solidFill>
                  <a:srgbClr val="6B7280"/>
                </a:solidFill>
                <a:latin typeface="Segoe UI"/>
              </a:rPr>
              <a:t>Adaptive output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11827"/>
                </a:solidFill>
                <a:latin typeface="Segoe UI"/>
              </a:rPr>
              <a:t>The SAME email becomes time-boxed steps (ADHD) or short, plain, dyslexia-friendly text — from a one-time profile.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286000"/>
            <a:ext cx="352044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100" dir="5400000" rotWithShape="0">
              <a:srgbClr val="11182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17720" y="26060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22C55E"/>
                </a:solidFill>
                <a:latin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6008" y="3429000"/>
            <a:ext cx="297180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166534"/>
                </a:solidFill>
                <a:latin typeface="Segoe UI"/>
              </a:rPr>
              <a:t>Understanding AND doing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50" b="0" i="1">
                <a:solidFill>
                  <a:srgbClr val="6B7280"/>
                </a:solidFill>
                <a:latin typeface="Segoe UI"/>
              </a:rPr>
              <a:t>Not just ‘I get it’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11827"/>
                </a:solidFill>
                <a:latin typeface="Segoe UI"/>
              </a:rPr>
              <a:t>We attack task initiation &amp; overwhelm — micro-steps, focus mode, a one-tap reset — so understanding turns into action.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2286000"/>
            <a:ext cx="352044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100" dir="5400000" rotWithShape="0">
              <a:srgbClr val="11182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21040" y="26060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22C55E"/>
                </a:solidFill>
                <a:latin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7" y="3429000"/>
            <a:ext cx="297180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166534"/>
                </a:solidFill>
                <a:latin typeface="Segoe UI"/>
              </a:rPr>
              <a:t>Built for your brain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50" b="0" i="1">
                <a:solidFill>
                  <a:srgbClr val="6B7280"/>
                </a:solidFill>
                <a:latin typeface="Segoe UI"/>
              </a:rPr>
              <a:t>&amp; your firewall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11827"/>
                </a:solidFill>
                <a:latin typeface="Segoe UI"/>
              </a:rPr>
              <a:t>Calm, sensory-aware by default, running on enterprise data in-tenant — not a public chatbot.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NeuroSync · Work, in sync with how you think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6534"/>
                </a:solidFill>
                <a:latin typeface="Segoe UI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86384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11827"/>
                </a:solidFill>
                <a:latin typeface="Segoe UI"/>
              </a:rPr>
              <a:t>From chaos to the next clear step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468880"/>
            <a:ext cx="1627632" cy="1371600"/>
          </a:xfrm>
          <a:prstGeom prst="roundRect">
            <a:avLst>
              <a:gd name="adj" fmla="val 10000"/>
            </a:avLst>
          </a:prstGeom>
          <a:solidFill>
            <a:srgbClr val="0F3D2E"/>
          </a:solidFill>
          <a:ln>
            <a:noFill/>
          </a:ln>
          <a:effectLst>
            <a:outerShdw blurRad="90000" dist="38100" dir="5400000" rotWithShape="0">
              <a:srgbClr val="11182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Email / Outlook
or any text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258568" y="3054096"/>
            <a:ext cx="228600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468880" y="2468880"/>
            <a:ext cx="1627632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100" dir="5400000" rotWithShape="0">
              <a:srgbClr val="11182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11827"/>
                </a:solidFill>
                <a:latin typeface="Segoe UI"/>
              </a:rPr>
              <a:t>AI summary +
action items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87368" y="3054096"/>
            <a:ext cx="228600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97680" y="2468880"/>
            <a:ext cx="1627632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100" dir="5400000" rotWithShape="0">
              <a:srgbClr val="11182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11827"/>
                </a:solidFill>
                <a:latin typeface="Segoe UI"/>
              </a:rPr>
              <a:t>Adaptive
breakdown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16168" y="3054096"/>
            <a:ext cx="228600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26480" y="2468880"/>
            <a:ext cx="1627632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100" dir="5400000" rotWithShape="0">
              <a:srgbClr val="11182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11827"/>
                </a:solidFill>
                <a:latin typeface="Segoe UI"/>
              </a:rPr>
              <a:t>Prioritise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44968" y="3054096"/>
            <a:ext cx="228600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955279" y="2468880"/>
            <a:ext cx="1627632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100" dir="5400000" rotWithShape="0">
              <a:srgbClr val="11182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11827"/>
                </a:solidFill>
                <a:latin typeface="Segoe UI"/>
              </a:rPr>
              <a:t>Focus timer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573767" y="3054096"/>
            <a:ext cx="228600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784080" y="2468880"/>
            <a:ext cx="1627632" cy="1371600"/>
          </a:xfrm>
          <a:prstGeom prst="roundRect">
            <a:avLst>
              <a:gd name="adj" fmla="val 10000"/>
            </a:avLst>
          </a:prstGeom>
          <a:solidFill>
            <a:srgbClr val="0F3D2E"/>
          </a:solidFill>
          <a:ln>
            <a:noFill/>
          </a:ln>
          <a:effectLst>
            <a:outerShdw blurRad="90000" dist="38100" dir="5400000" rotWithShape="0">
              <a:srgbClr val="11182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Execute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297680"/>
            <a:ext cx="10908792" cy="105156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434840"/>
            <a:ext cx="10424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F3D2E"/>
                </a:solidFill>
                <a:latin typeface="Segoe UI"/>
              </a:rPr>
              <a:t>Every step is adapted to your profile</a:t>
            </a:r>
            <a:r>
              <a:rPr sz="1400" b="0" i="0">
                <a:solidFill>
                  <a:srgbClr val="166534"/>
                </a:solidFill>
                <a:latin typeface="Segoe UI"/>
              </a:rPr>
              <a:t> — and you stay in control.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66534"/>
                </a:solidFill>
                <a:latin typeface="Segoe UI"/>
              </a:rPr>
              <a:t>The AI drafts; you edit and approve. The original source is always one click away.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NeuroSync · Work, in sync with how you think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C55E"/>
                </a:solidFill>
                <a:latin typeface="Segoe UI"/>
              </a:rPr>
              <a:t>SEE IT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86384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Live demo — real AI, in seconds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1546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7" y="208483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0F3D2E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993392"/>
            <a:ext cx="25146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Segoe UI"/>
              </a:rPr>
              <a:t>Aanya logs in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CFE3D9"/>
                </a:solidFill>
                <a:latin typeface="Segoe UI"/>
              </a:rPr>
              <a:t>Her profile already knows: short text, small steps.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828800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1546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44568" y="208483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0F3D2E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993392"/>
            <a:ext cx="25146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Segoe UI"/>
              </a:rPr>
              <a:t>Dashboard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CFE3D9"/>
                </a:solidFill>
                <a:latin typeface="Segoe UI"/>
              </a:rPr>
              <a:t>A calm ‘next step’ — not 38 emails.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9" y="1828800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1546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47888" y="208483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0F3D2E"/>
                </a:solidFill>
                <a:latin typeface="Segoe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399" y="1993392"/>
            <a:ext cx="25146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Segoe UI"/>
              </a:rPr>
              <a:t>Outlook sync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CFE3D9"/>
                </a:solidFill>
                <a:latin typeface="Segoe UI"/>
              </a:rPr>
              <a:t>Pull a real, messy email straight 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474720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1546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1247" y="373075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0F3D2E"/>
                </a:solidFill>
                <a:latin typeface="Segoe U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639312"/>
            <a:ext cx="25146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Segoe UI"/>
              </a:rPr>
              <a:t>Tasks identified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CFE3D9"/>
                </a:solidFill>
                <a:latin typeface="Segoe UI"/>
              </a:rPr>
              <a:t>Summary, action items, the hidden Thursday deadline.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474720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1546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44568" y="373075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0F3D2E"/>
                </a:solidFill>
                <a:latin typeface="Segoe U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3639312"/>
            <a:ext cx="25146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Segoe UI"/>
              </a:rPr>
              <a:t>AI breakdown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CFE3D9"/>
                </a:solidFill>
                <a:latin typeface="Segoe UI"/>
              </a:rPr>
              <a:t>One task → micro-steps with time estimates, in her style.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19" y="3474720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1546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47888" y="373075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0F3D2E"/>
                </a:solidFill>
                <a:latin typeface="Segoe U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399" y="3639312"/>
            <a:ext cx="25146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Segoe UI"/>
              </a:rPr>
              <a:t>Execute w/ timers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CFE3D9"/>
                </a:solidFill>
                <a:latin typeface="Segoe UI"/>
              </a:rPr>
              <a:t>Focus mode strips all but the next step; one-tap reset.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C55E"/>
                </a:solidFill>
                <a:latin typeface="Segoe UI"/>
              </a:rPr>
              <a:t>Running live on Azure OpenAI, in-tenant — and personalised to each user.  </a:t>
            </a:r>
            <a:r>
              <a:rPr sz="1300" b="0" i="1">
                <a:solidFill>
                  <a:srgbClr val="FFFFFF"/>
                </a:solidFill>
                <a:latin typeface="Segoe UI"/>
              </a:rPr>
              <a:t>We’ll show, not tell.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A9B4B0"/>
                </a:solidFill>
                <a:latin typeface="Segoe UI"/>
              </a:rPr>
              <a:t>NeuroSync · Work, in sync with how you think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A9B4B0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6534"/>
                </a:solidFill>
                <a:latin typeface="Segoe UI"/>
              </a:rPr>
              <a:t>AI ARCHITECTURE &amp; INTEGRATIONS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86384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11827"/>
                </a:solidFill>
                <a:latin typeface="Segoe UI"/>
              </a:rPr>
              <a:t>Real today — and enterprise-ready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73152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100" dir="5400000" rotWithShape="0">
              <a:srgbClr val="11182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737360" cy="1051560"/>
          </a:xfrm>
          <a:prstGeom prst="roundRect">
            <a:avLst>
              <a:gd name="adj" fmla="val 6000"/>
            </a:avLst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984248"/>
            <a:ext cx="52120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11827"/>
                </a:solidFill>
                <a:latin typeface="Segoe UI"/>
              </a:rPr>
              <a:t>React + Vite + Tailwind — calm, accessible UI (dyslexia font, high contrast, reduced motion)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63239"/>
            <a:ext cx="73152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100" dir="5400000" rotWithShape="0">
              <a:srgbClr val="11182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3063239"/>
            <a:ext cx="1737360" cy="1051560"/>
          </a:xfrm>
          <a:prstGeom prst="roundRect">
            <a:avLst>
              <a:gd name="adj" fmla="val 6000"/>
            </a:avLst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3172968"/>
            <a:ext cx="52120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11827"/>
                </a:solidFill>
                <a:latin typeface="Segoe UI"/>
              </a:rPr>
              <a:t>ASP.NET Core API + SQL — Tasks, Projects, Summarizer, per-user personalization (all live)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251959"/>
            <a:ext cx="73152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100" dir="5400000" rotWithShape="0">
              <a:srgbClr val="11182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4251959"/>
            <a:ext cx="1737360" cy="1051560"/>
          </a:xfrm>
          <a:prstGeom prst="roundRect">
            <a:avLst>
              <a:gd name="adj" fmla="val 6000"/>
            </a:avLst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AI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4361688"/>
            <a:ext cx="52120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11827"/>
                </a:solidFill>
                <a:latin typeface="Segoe UI"/>
              </a:rPr>
              <a:t>Provider-agnostic interface — Azure OpenAI (in-tenant) in production · Gemini for local demo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4160520" y="2926080"/>
            <a:ext cx="274320" cy="164592"/>
          </a:xfrm>
          <a:prstGeom prst="downArrow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4160520" y="4114800"/>
            <a:ext cx="274320" cy="164592"/>
          </a:xfrm>
          <a:prstGeom prst="downArrow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5440680"/>
            <a:ext cx="7315200" cy="82296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532120"/>
            <a:ext cx="68580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3D2E"/>
                </a:solidFill>
                <a:latin typeface="Segoe UI"/>
              </a:rPr>
              <a:t>Cloud-agnostic &amp; swappable.</a:t>
            </a:r>
            <a:r>
              <a:rPr sz="1250" b="0" i="0">
                <a:solidFill>
                  <a:srgbClr val="166534"/>
                </a:solidFill>
                <a:latin typeface="Segoe UI"/>
              </a:rPr>
              <a:t> The AI sits behind an interface — changing provider is a config change, not a rewrite.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1874519"/>
            <a:ext cx="3364992" cy="4389120"/>
          </a:xfrm>
          <a:prstGeom prst="roundRect">
            <a:avLst>
              <a:gd name="adj" fmla="val 6000"/>
            </a:avLst>
          </a:prstGeom>
          <a:solidFill>
            <a:srgbClr val="0F3D2E"/>
          </a:solidFill>
          <a:ln>
            <a:noFill/>
          </a:ln>
          <a:effectLst>
            <a:outerShdw blurRad="90000" dist="38100" dir="5400000" rotWithShape="0">
              <a:srgbClr val="11182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05740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2C55E"/>
                </a:solidFill>
                <a:latin typeface="Segoe UI"/>
              </a:rPr>
              <a:t>Integrations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60604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Outlook (Microsoft Graph)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2898648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0F3D2E"/>
                </a:solidFill>
                <a:latin typeface="Segoe UI"/>
              </a:rPr>
              <a:t>Live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502152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Microsoft Teams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37947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2A5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CFE3D9"/>
                </a:solidFill>
                <a:latin typeface="Segoe UI"/>
              </a:rPr>
              <a:t>Planned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398264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Azure DevOps / Jira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0" y="469087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2A5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CFE3D9"/>
                </a:solidFill>
                <a:latin typeface="Segoe UI"/>
              </a:rPr>
              <a:t>Planned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5294376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More accessibility profiles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12480" y="5586984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2A5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CFE3D9"/>
                </a:solidFill>
                <a:latin typeface="Segoe UI"/>
              </a:rPr>
              <a:t>Planned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NeuroSync · Work, in sync with how you think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6534"/>
                </a:solidFill>
                <a:latin typeface="Segoe UI"/>
              </a:rPr>
              <a:t>PERSONALISATION — THE CORE OF NEUROSYNC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86384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11827"/>
                </a:solidFill>
                <a:latin typeface="Segoe UI"/>
              </a:rPr>
              <a:t>Built for your brain, not the average one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3383280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100" dir="5400000" rotWithShape="0">
              <a:srgbClr val="11182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0312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66534"/>
                </a:solidFill>
                <a:latin typeface="Segoe UI"/>
              </a:rPr>
              <a:t>Your profile (opt-in)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06040"/>
            <a:ext cx="2971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>
                <a:solidFill>
                  <a:srgbClr val="111827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111827"/>
                </a:solidFill>
                <a:latin typeface="Segoe UI"/>
              </a:rPr>
              <a:t>Preferences (simpler language, step size)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319272"/>
            <a:ext cx="2971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>
                <a:solidFill>
                  <a:srgbClr val="111827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111827"/>
                </a:solidFill>
                <a:latin typeface="Segoe UI"/>
              </a:rPr>
              <a:t>Cognitive needs (one thing at a time)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032504"/>
            <a:ext cx="2971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>
                <a:solidFill>
                  <a:srgbClr val="111827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111827"/>
                </a:solidFill>
                <a:latin typeface="Segoe UI"/>
              </a:rPr>
              <a:t>Work style (reminders, time estimates)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745736"/>
            <a:ext cx="2971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>
                <a:solidFill>
                  <a:srgbClr val="111827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111827"/>
                </a:solidFill>
                <a:latin typeface="Segoe UI"/>
              </a:rPr>
              <a:t>Dyslexia font, contrast, reduced motion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14800" y="3657600"/>
            <a:ext cx="457200" cy="25603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09160" y="1920240"/>
            <a:ext cx="3383280" cy="3749039"/>
          </a:xfrm>
          <a:prstGeom prst="roundRect">
            <a:avLst>
              <a:gd name="adj" fmla="val 6000"/>
            </a:avLst>
          </a:prstGeom>
          <a:solidFill>
            <a:srgbClr val="0F3D2E"/>
          </a:solidFill>
          <a:ln>
            <a:noFill/>
          </a:ln>
          <a:effectLst>
            <a:outerShdw blurRad="90000" dist="38100" dir="5400000" rotWithShape="0">
              <a:srgbClr val="11182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210312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2C55E"/>
                </a:solidFill>
                <a:latin typeface="Segoe UI"/>
              </a:rPr>
              <a:t>Same email 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606040"/>
            <a:ext cx="2971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ADHD profile: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CFE3D9"/>
                </a:solidFill>
                <a:latin typeface="Segoe UI"/>
              </a:rPr>
              <a:t>time-boxed micro-steps, focus timer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3886200"/>
            <a:ext cx="2971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Dyslexia profile: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CFE3D9"/>
                </a:solidFill>
                <a:latin typeface="Segoe UI"/>
              </a:rPr>
              <a:t>short, plain, bulleted, dyslexia-friendly rewrite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920240"/>
            <a:ext cx="3319272" cy="3749039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>
            <a:noFill/>
          </a:ln>
          <a:effectLst>
            <a:outerShdw blurRad="90000" dist="38100" dir="5400000" rotWithShape="0">
              <a:srgbClr val="11182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210312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F3D2E"/>
                </a:solidFill>
                <a:latin typeface="Segoe UI"/>
              </a:rPr>
              <a:t>Learns over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606040"/>
            <a:ext cx="288036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F3D2E"/>
                </a:solidFill>
                <a:latin typeface="Segoe UI"/>
              </a:rPr>
              <a:t>Today: </a:t>
            </a:r>
            <a:r>
              <a:rPr sz="1200" b="0" i="0">
                <a:solidFill>
                  <a:srgbClr val="166534"/>
                </a:solidFill>
                <a:latin typeface="Segoe UI"/>
              </a:rPr>
              <a:t>you set it once; you edit &amp; approve every output.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" b="0" i="0">
                <a:solidFill>
                  <a:srgbClr val="166534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F3D2E"/>
                </a:solidFill>
                <a:latin typeface="Segoe UI"/>
              </a:rPr>
              <a:t>Next: </a:t>
            </a:r>
            <a:r>
              <a:rPr sz="1200" b="0" i="0">
                <a:solidFill>
                  <a:srgbClr val="166534"/>
                </a:solidFill>
                <a:latin typeface="Segoe UI"/>
              </a:rPr>
              <a:t>behaviour-aware tuning — if steps consistently run over, NeuroSync adjusts future time estimates and granularity.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NeuroSync · Work, in sync with how you think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6534"/>
                </a:solidFill>
                <a:latin typeface="Segoe UI"/>
              </a:rPr>
              <a:t>ETHICS &amp; INCLUSION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86384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11827"/>
                </a:solidFill>
                <a:latin typeface="Segoe UI"/>
              </a:rPr>
              <a:t>Responsible and inclusive by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3520440" cy="1554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100" dir="5400000" rotWithShape="0">
              <a:srgbClr val="11182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50" b="1" i="0">
                <a:solidFill>
                  <a:srgbClr val="166534"/>
                </a:solidFill>
                <a:latin typeface="Segoe UI"/>
              </a:rPr>
              <a:t>No diagnosis, no labels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6B7280"/>
                </a:solidFill>
                <a:latin typeface="Segoe UI"/>
              </a:rPr>
              <a:t>Support is an opt-in choice — never an assumption about anyone.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3520440" cy="109728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43400" y="1920240"/>
            <a:ext cx="3520440" cy="1554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100" dir="5400000" rotWithShape="0">
              <a:srgbClr val="11182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50" b="1" i="0">
                <a:solidFill>
                  <a:srgbClr val="166534"/>
                </a:solidFill>
                <a:latin typeface="Segoe UI"/>
              </a:rPr>
              <a:t>Human-in-the-loop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6B7280"/>
                </a:solidFill>
                <a:latin typeface="Segoe UI"/>
              </a:rPr>
              <a:t>The AI suggests; the person edits and approves. Nothing auto-acts.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1920240"/>
            <a:ext cx="3520440" cy="109728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19" y="1920240"/>
            <a:ext cx="3520440" cy="1554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100" dir="5400000" rotWithShape="0">
              <a:srgbClr val="11182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50" b="1" i="0">
                <a:solidFill>
                  <a:srgbClr val="166534"/>
                </a:solidFill>
                <a:latin typeface="Segoe UI"/>
              </a:rPr>
              <a:t>Privacy by design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6B7280"/>
                </a:solidFill>
                <a:latin typeface="Segoe UI"/>
              </a:rPr>
              <a:t>Enterprise data stays within enterprise governance, in-tenant.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19" y="1920240"/>
            <a:ext cx="3520440" cy="109728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3749039"/>
            <a:ext cx="3520440" cy="1554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100" dir="5400000" rotWithShape="0">
              <a:srgbClr val="11182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50" b="1" i="0">
                <a:solidFill>
                  <a:srgbClr val="166534"/>
                </a:solidFill>
                <a:latin typeface="Segoe UI"/>
              </a:rPr>
              <a:t>Sourced nudges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6B7280"/>
                </a:solidFill>
                <a:latin typeface="Segoe UI"/>
              </a:rPr>
              <a:t>Wellbeing prompts use recognised, published techniques.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749039"/>
            <a:ext cx="3520440" cy="109728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3400" y="3749039"/>
            <a:ext cx="3520440" cy="1554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100" dir="5400000" rotWithShape="0">
              <a:srgbClr val="11182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50" b="1" i="0">
                <a:solidFill>
                  <a:srgbClr val="166534"/>
                </a:solidFill>
                <a:latin typeface="Segoe UI"/>
              </a:rPr>
              <a:t>Inclusive by default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6B7280"/>
                </a:solidFill>
                <a:latin typeface="Segoe UI"/>
              </a:rPr>
              <a:t>Calm UI, dyslexia font, high contrast, reduced motion — for everyone.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3749039"/>
            <a:ext cx="3520440" cy="109728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46719" y="3749039"/>
            <a:ext cx="3520440" cy="1554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100" dir="5400000" rotWithShape="0">
              <a:srgbClr val="11182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50" b="1" i="0">
                <a:solidFill>
                  <a:srgbClr val="166534"/>
                </a:solidFill>
                <a:latin typeface="Segoe UI"/>
              </a:rPr>
              <a:t>Transparent output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6B7280"/>
                </a:solidFill>
                <a:latin typeface="Segoe UI"/>
              </a:rPr>
              <a:t>The original source is always one click away to verify.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19" y="3749039"/>
            <a:ext cx="3520440" cy="109728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NeuroSync · Work, in sync with how you think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6534"/>
                </a:solidFill>
                <a:latin typeface="Segoe UI"/>
              </a:rPr>
              <a:t>FUTURE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86384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11827"/>
                </a:solidFill>
                <a:latin typeface="Segoe UI"/>
              </a:rPr>
              <a:t>From prototype to pilot to scale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3520440" cy="4023360"/>
          </a:xfrm>
          <a:prstGeom prst="roundRect">
            <a:avLst>
              <a:gd name="adj" fmla="val 5000"/>
            </a:avLst>
          </a:prstGeom>
          <a:solidFill>
            <a:srgbClr val="0F3D2E"/>
          </a:solidFill>
          <a:ln>
            <a:noFill/>
          </a:ln>
          <a:effectLst>
            <a:outerShdw blurRad="90000" dist="38100" dir="5400000" rotWithShape="0">
              <a:srgbClr val="11182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3520440" cy="640080"/>
          </a:xfrm>
          <a:prstGeom prst="roundRect">
            <a:avLst>
              <a:gd name="adj" fmla="val 6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F3D2E"/>
                </a:solidFill>
                <a:latin typeface="Segoe UI"/>
              </a:rPr>
              <a:t>NOW — working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697480"/>
            <a:ext cx="30632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FFFFFF"/>
                </a:solidFill>
                <a:latin typeface="Segoe UI"/>
              </a:rPr>
              <a:t>AI summariser + adaptive task breakdown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FFFFFF"/>
                </a:solidFill>
                <a:latin typeface="Segoe UI"/>
              </a:rPr>
              <a:t>Per-user personalization profile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FFFFFF"/>
                </a:solidFill>
                <a:latin typeface="Segoe UI"/>
              </a:rPr>
              <a:t>Projects, due dates, focus mode + timers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FFFFFF"/>
                </a:solidFill>
                <a:latin typeface="Segoe UI"/>
              </a:rPr>
              <a:t>Outlook email → task (Microsoft Graph)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FFFFFF"/>
                </a:solidFill>
                <a:latin typeface="Segoe UI"/>
              </a:rPr>
              <a:t>Azure OpenAI in-tenant; guest demo mode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920240"/>
            <a:ext cx="3520440" cy="4023360"/>
          </a:xfrm>
          <a:prstGeom prst="roundRect">
            <a:avLst>
              <a:gd name="adj" fmla="val 5000"/>
            </a:avLst>
          </a:prstGeom>
          <a:solidFill>
            <a:srgbClr val="166534"/>
          </a:solidFill>
          <a:ln>
            <a:noFill/>
          </a:ln>
          <a:effectLst>
            <a:outerShdw blurRad="90000" dist="38100" dir="5400000" rotWithShape="0">
              <a:srgbClr val="11182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43400" y="1920240"/>
            <a:ext cx="3520440" cy="640080"/>
          </a:xfrm>
          <a:prstGeom prst="roundRect">
            <a:avLst>
              <a:gd name="adj" fmla="val 6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F3D2E"/>
                </a:solidFill>
                <a:latin typeface="Segoe UI"/>
              </a:rPr>
              <a:t>NEXT — 1–3 months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9432" y="2697480"/>
            <a:ext cx="30632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FFFFFF"/>
                </a:solidFill>
                <a:latin typeface="Segoe UI"/>
              </a:rPr>
              <a:t>Validated pilot with a neurodiversity ERG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FFFFFF"/>
                </a:solidFill>
                <a:latin typeface="Segoe UI"/>
              </a:rPr>
              <a:t>Behaviour-aware learning (auto time tuning)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FFFFFF"/>
                </a:solidFill>
                <a:latin typeface="Segoe UI"/>
              </a:rPr>
              <a:t>Teams + Azure DevOps / Jira connectors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FFFFFF"/>
                </a:solidFill>
                <a:latin typeface="Segoe UI"/>
              </a:rPr>
              <a:t>Agentic reminders before login; escalation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9" y="1920240"/>
            <a:ext cx="352044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100" dir="5400000" rotWithShape="0">
              <a:srgbClr val="11182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19" y="1920240"/>
            <a:ext cx="3520440" cy="640080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F3D2E"/>
                </a:solidFill>
                <a:latin typeface="Segoe UI"/>
              </a:rPr>
              <a:t>LATER — 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1" y="2697480"/>
            <a:ext cx="30632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800" b="0" i="0">
                <a:solidFill>
                  <a:srgbClr val="111827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>
                <a:solidFill>
                  <a:srgbClr val="111827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111827"/>
                </a:solidFill>
                <a:latin typeface="Segoe UI"/>
              </a:rPr>
              <a:t>Emergency handling (on leave → reassign / notify)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>
                <a:solidFill>
                  <a:srgbClr val="111827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111827"/>
                </a:solidFill>
                <a:latin typeface="Segoe UI"/>
              </a:rPr>
              <a:t>Supervisor profile + escalation workflows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>
                <a:solidFill>
                  <a:srgbClr val="111827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111827"/>
                </a:solidFill>
                <a:latin typeface="Segoe UI"/>
              </a:rPr>
              <a:t>More language &amp; low-vision / screen-reader modes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>
                <a:solidFill>
                  <a:srgbClr val="111827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111827"/>
                </a:solidFill>
                <a:latin typeface="Segoe UI"/>
              </a:rPr>
              <a:t>Privacy-safe manager insights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NeuroSync · Work, in sync with how you think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828800"/>
            <a:ext cx="104241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Aanya doesn’t need to be fixed.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22C55E"/>
                </a:solidFill>
                <a:latin typeface="Segoe UI"/>
              </a:rPr>
              <a:t>Her workday does.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" y="38862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D3E3DB"/>
                </a:solidFill>
                <a:latin typeface="Segoe UI"/>
              </a:rPr>
              <a:t>NeuroSync levels the playing field — quietly, respectfully, and at scale.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6968" y="4892040"/>
            <a:ext cx="8412480" cy="868680"/>
          </a:xfrm>
          <a:prstGeom prst="roundRect">
            <a:avLst>
              <a:gd name="adj" fmla="val 10000"/>
            </a:avLst>
          </a:prstGeom>
          <a:solidFill>
            <a:srgbClr val="1546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5029200"/>
            <a:ext cx="795527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2C55E"/>
                </a:solidFill>
                <a:latin typeface="Segoe UI"/>
              </a:rPr>
              <a:t>Our ask: </a:t>
            </a:r>
            <a:r>
              <a:rPr sz="1500" b="0" i="0">
                <a:solidFill>
                  <a:srgbClr val="FFFFFF"/>
                </a:solidFill>
                <a:latin typeface="Segoe UI"/>
              </a:rPr>
              <a:t>help us pilot NeuroSync with a neurodiversity employee resource group.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59893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9B4B0"/>
                </a:solidFill>
                <a:latin typeface="Segoe UI"/>
              </a:rPr>
              <a:t>NeuroSync · Work, in sync with how you think.   Thank you — questions welcome.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6534"/>
                </a:solidFill>
                <a:latin typeface="Segoe UI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86384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11827"/>
                </a:solidFill>
                <a:latin typeface="Segoe UI"/>
              </a:rPr>
              <a:t>Sources &amp; references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08792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0195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66534"/>
                </a:solidFill>
                <a:latin typeface="Segoe UI"/>
              </a:rPr>
              <a:t>1.  </a:t>
            </a:r>
            <a:r>
              <a:rPr sz="1250" b="1" i="0">
                <a:solidFill>
                  <a:srgbClr val="111827"/>
                </a:solidFill>
                <a:latin typeface="Segoe UI"/>
              </a:rPr>
              <a:t>Accenture — ‘Getting to Equal: The Disability Inclusion Advantage’ (2018)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</a:rPr>
              <a:t>Leaders in disability inclusion saw, on average, higher revenue and profitability than peers.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0048"/>
            <a:ext cx="10908792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432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66534"/>
                </a:solidFill>
                <a:latin typeface="Segoe UI"/>
              </a:rPr>
              <a:t>2.  </a:t>
            </a:r>
            <a:r>
              <a:rPr sz="1250" b="1" i="0">
                <a:solidFill>
                  <a:srgbClr val="111827"/>
                </a:solidFill>
                <a:latin typeface="Segoe UI"/>
              </a:rPr>
              <a:t>Accenture / Disability:IN / AAPD — ‘The Disability Inclusion Imperative’ (2023)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</a:rPr>
              <a:t>Companies leading in disability inclusion outperform peers financially.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511296"/>
            <a:ext cx="10908792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58444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66534"/>
                </a:solidFill>
                <a:latin typeface="Segoe UI"/>
              </a:rPr>
              <a:t>3.  </a:t>
            </a:r>
            <a:r>
              <a:rPr sz="1250" b="1" i="0">
                <a:solidFill>
                  <a:srgbClr val="111827"/>
                </a:solidFill>
                <a:latin typeface="Segoe UI"/>
              </a:rPr>
              <a:t>Neurodiversity in the Workplace statistics — mydisabilityjobs.com (2025)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</a:rPr>
              <a:t>51% of neurodivergent employees have taken time off due to their condition; ADHD/dyslexia comorbidity.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352544"/>
            <a:ext cx="10908792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425696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66534"/>
                </a:solidFill>
                <a:latin typeface="Segoe UI"/>
              </a:rPr>
              <a:t>4.  </a:t>
            </a:r>
            <a:r>
              <a:rPr sz="1250" b="1" i="0">
                <a:solidFill>
                  <a:srgbClr val="111827"/>
                </a:solidFill>
                <a:latin typeface="Segoe UI"/>
              </a:rPr>
              <a:t>Govt. of India — Rights of Persons with Disabilities Act, 2016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</a:rPr>
              <a:t>Statutory backdrop for workplace inclusion in India.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193792"/>
            <a:ext cx="10908792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266944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66534"/>
                </a:solidFill>
                <a:latin typeface="Segoe UI"/>
              </a:rPr>
              <a:t>5.  </a:t>
            </a:r>
            <a:r>
              <a:rPr sz="1250" b="1" i="0">
                <a:solidFill>
                  <a:srgbClr val="111827"/>
                </a:solidFill>
                <a:latin typeface="Segoe UI"/>
              </a:rPr>
              <a:t>nasscom — ‘Neurodiversity and the Future of Work in India’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</a:rPr>
              <a:t>Industry context for neurodiversity at 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126480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80"/>
                </a:solidFill>
                <a:latin typeface="Segoe UI"/>
              </a:rPr>
              <a:t>Tier-1 sources (Accenture / industry bodies) prioritised; exact figures verified against primary sources.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NeuroSync · Work, in sync with how you think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