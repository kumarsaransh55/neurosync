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ydisabilityjobs.com/statistics/neurodiversity-in-the-workplace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newsroom.accenture.com/news/2018/companies-leading-in-disability-inclusion-have-outperformed-peers-accenture-research-finds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room.accenture.com/news/2018/companies-leading-in-disability-inclusion-have-outperformed-peers-accenture-research-finds" TargetMode="External"/><Relationship Id="rId3" Type="http://schemas.openxmlformats.org/officeDocument/2006/relationships/hyperlink" Target="https://newsroom.accenture.com/news/2023/companies-that-lead-in-disability-inclusion-outperform-peers-financially-reveals-new-research-from-accenture" TargetMode="External"/><Relationship Id="rId4" Type="http://schemas.openxmlformats.org/officeDocument/2006/relationships/hyperlink" Target="https://mydisabilityjobs.com/statistics/neurodiversity-in-the-workplace/" TargetMode="External"/><Relationship Id="rId5" Type="http://schemas.openxmlformats.org/officeDocument/2006/relationships/hyperlink" Target="https://www.accenture.com/content/dam/accenture/final/a-com-migration/pdf/pdf-89/accenture-disability-inclusion-research-report.pdf" TargetMode="External"/><Relationship Id="rId6" Type="http://schemas.openxmlformats.org/officeDocument/2006/relationships/hyperlink" Target="https://commons.wikimedia.org/w/index.php?curid=110071584" TargetMode="External"/><Relationship Id="rId7" Type="http://schemas.openxmlformats.org/officeDocument/2006/relationships/hyperlink" Target="https://stocksnap.io/photo/woman-work-E5GUBD8MWN" TargetMode="External"/><Relationship Id="rId8" Type="http://schemas.openxmlformats.org/officeDocument/2006/relationships/hyperlink" Target="https://stocksnap.io/photo/team-meeting-JBW2PXDOL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Segoe UI"/>
              </a:rPr>
              <a:t>NeuroSync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063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2C55E"/>
                </a:solidFill>
                <a:latin typeface="Segoe UI"/>
              </a:rPr>
              <a:t>Work, in sync with how you think.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D3E3DB"/>
                </a:solidFill>
                <a:latin typeface="Segoe UI"/>
              </a:rPr>
              <a:t>An inclusive work companion for neurodivergent employees (ADHD &amp; dyslexia)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A9B4B0"/>
                </a:solidFill>
                <a:latin typeface="Segoe UI"/>
              </a:rPr>
              <a:t>Accenture HumanEdge Hackathon — Final Jury,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ress_2.jpg"/>
          <p:cNvPicPr>
            <a:picLocks noChangeAspect="1"/>
          </p:cNvPicPr>
          <p:nvPr/>
        </p:nvPicPr>
        <p:blipFill>
          <a:blip r:embed="rId2"/>
          <a:srcRect t="7817" b="781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F3D2E"/>
                </a:solidFill>
                <a:latin typeface="Segoe UI"/>
              </a:rPr>
              <a:t>THE HUMAN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749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Meet Aanya — a talented analyst with ADHD and dyslexia.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3E3DB"/>
                </a:solidFill>
                <a:latin typeface="Segoe UI"/>
              </a:rPr>
              <a:t>Monday, 9 AM: 38 unread emails, 4 chat threads, 6 tickets. One email hides three tasks and a Thursday deadline in paragraph three.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Segoe UI"/>
              </a:rPr>
              <a:t>An hour later — she still hasn’t started. It isn’t her ability; her workday was built for a brain that isn’t 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6539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CFE3D9"/>
                </a:solidFill>
                <a:latin typeface="Segoe UI"/>
              </a:rPr>
              <a:t>Photo: CIPHR Connect, CC BY 2.0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A hidden ‘cognitive tax’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11827"/>
                </a:solidFill>
                <a:latin typeface="Segoe UI"/>
              </a:rPr>
              <a:t>Turning workplace text into </a:t>
            </a:r>
            <a:r>
              <a:rPr sz="1800" b="1" i="0">
                <a:solidFill>
                  <a:srgbClr val="166534"/>
                </a:solidFill>
                <a:latin typeface="Segoe UI"/>
              </a:rPr>
              <a:t>started, finished work</a:t>
            </a:r>
            <a:r>
              <a:rPr sz="1800" b="0" i="0">
                <a:solidFill>
                  <a:srgbClr val="111827"/>
                </a:solidFill>
                <a:latin typeface="Segoe UI"/>
              </a:rPr>
              <a:t> costs employees with ADHD and dyslexia far more energy 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</a:rPr>
              <a:t>not because of capability, but because mainstream tools assume </a:t>
            </a:r>
            <a:r>
              <a:rPr sz="1500" b="0" i="1">
                <a:solidFill>
                  <a:srgbClr val="6B7280"/>
                </a:solidFill>
                <a:latin typeface="Segoe UI"/>
              </a:rPr>
              <a:t>one way of processing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109728" cy="1600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2606040" cy="1600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54096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11827"/>
                </a:solidFill>
                <a:latin typeface="Segoe UI"/>
              </a:rPr>
              <a:t>Missed priorities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</a:rPr>
              <a:t>Tasks &amp; deadlines buried in long emails, chats, tickets.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926080"/>
            <a:ext cx="109728" cy="1600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2926080"/>
            <a:ext cx="2606040" cy="1600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054096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11827"/>
                </a:solidFill>
                <a:latin typeface="Segoe UI"/>
              </a:rPr>
              <a:t>Cognitive overload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</a:rPr>
              <a:t>Constant re-reading and context-switching drains focus.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926080"/>
            <a:ext cx="109728" cy="1600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2926080"/>
            <a:ext cx="2606040" cy="1600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054096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11827"/>
                </a:solidFill>
                <a:latin typeface="Segoe UI"/>
              </a:rPr>
              <a:t>Emotional burnout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</a:rPr>
              <a:t>Masking the struggle leads to absence and attrition.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2926080"/>
            <a:ext cx="260604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2926080"/>
            <a:ext cx="109728" cy="1600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926080"/>
            <a:ext cx="2606040" cy="16002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3054096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11827"/>
                </a:solidFill>
                <a:latin typeface="Segoe UI"/>
              </a:rPr>
              <a:t>Lost productivity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</a:rPr>
              <a:t>Wasted talent — for the person and the business.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868680"/>
          </a:xfrm>
          <a:prstGeom prst="roundRect">
            <a:avLst>
              <a:gd name="adj" fmla="val 1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8229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2C55E"/>
                </a:solidFill>
                <a:latin typeface="Segoe UI"/>
              </a:rPr>
              <a:t>51%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  of neurodivergent employees have taken time off due to their condition.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15584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Segoe UI"/>
              </a:rPr>
              <a:t>Source: </a:t>
            </a:r>
            <a:r>
              <a:rPr sz="950" b="0">
                <a:solidFill>
                  <a:srgbClr val="1D4ED8"/>
                </a:solidFill>
                <a:latin typeface="Segoe UI"/>
                <a:hlinkClick r:id="rId2"/>
              </a:rPr>
              <a:t>Neurodiversity in the Workplace — mydisabilityjobs.com (City &amp; Guilds Neurodiversity Index,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WHO IT’S FOR — AND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A specific audience, a connected problem</a:t>
            </a:r>
          </a:p>
        </p:txBody>
      </p:sp>
      <p:pic>
        <p:nvPicPr>
          <p:cNvPr id="4" name="Picture 3" descr="team_1.jpg"/>
          <p:cNvPicPr>
            <a:picLocks noChangeAspect="1"/>
          </p:cNvPicPr>
          <p:nvPr/>
        </p:nvPicPr>
        <p:blipFill>
          <a:blip r:embed="rId2"/>
          <a:srcRect l="6349" r="6349"/>
          <a:stretch>
            <a:fillRect/>
          </a:stretch>
        </p:blipFill>
        <p:spPr>
          <a:xfrm>
            <a:off x="640080" y="1920240"/>
            <a:ext cx="5029200" cy="3840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4800600"/>
            <a:ext cx="5029200" cy="960120"/>
          </a:xfrm>
          <a:prstGeom prst="rect">
            <a:avLst/>
          </a:prstGeom>
          <a:solidFill>
            <a:srgbClr val="0F3D2E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937760"/>
            <a:ext cx="4572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Our user: Accenture employees with ADHD and/or dyslexia.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920240"/>
            <a:ext cx="560527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2029968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66534"/>
                </a:solidFill>
                <a:latin typeface="Segoe UI"/>
              </a:rPr>
              <a:t>15–20%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029968"/>
            <a:ext cx="3017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of people are neurodivergent (ADHD, autism, dyslexia, dyspraxia).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246120"/>
            <a:ext cx="560527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355848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66534"/>
                </a:solidFill>
                <a:latin typeface="Segoe UI"/>
              </a:rPr>
              <a:t>~1 in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355848"/>
            <a:ext cx="3017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people with ADHD also have dyslexia — ONE connected problem, not two.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4572000"/>
            <a:ext cx="560527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4681728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66534"/>
                </a:solidFill>
                <a:latin typeface="Segoe UI"/>
              </a:rPr>
              <a:t>28% ↑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681728"/>
            <a:ext cx="30175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Accenture: disability-inclusion leaders averaged ~28% higher revenue &amp; 2× net income (4 yrs).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943600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Source: </a:t>
            </a:r>
            <a:r>
              <a:rPr sz="900" b="0">
                <a:solidFill>
                  <a:srgbClr val="1D4ED8"/>
                </a:solidFill>
                <a:latin typeface="Segoe UI"/>
                <a:hlinkClick r:id="rId3"/>
              </a:rPr>
              <a:t>Accenture, ‘Getting to Equal: The Disability Inclusion Advantage’ (2018)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WHAT MAKES NEUROSYNC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Why not just use ChatGPT or Copilot?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</a:rPr>
              <a:t>Generic AI gives </a:t>
            </a:r>
            <a:r>
              <a:rPr sz="1400" b="1" i="0">
                <a:solidFill>
                  <a:srgbClr val="111827"/>
                </a:solidFill>
                <a:latin typeface="Segoe UI"/>
              </a:rPr>
              <a:t>everyone the same answer</a:t>
            </a:r>
            <a:r>
              <a:rPr sz="1400" b="0" i="0">
                <a:solidFill>
                  <a:srgbClr val="6B7280"/>
                </a:solidFill>
                <a:latin typeface="Segoe UI"/>
              </a:rPr>
              <a:t>. NeuroSync does three things they don’t do together: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6060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22C55E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429000"/>
            <a:ext cx="29718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66534"/>
                </a:solidFill>
                <a:latin typeface="Segoe UI"/>
              </a:rPr>
              <a:t>Personalisation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6B7280"/>
                </a:solidFill>
                <a:latin typeface="Segoe UI"/>
              </a:rPr>
              <a:t>Adaptive output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The SAME email becomes time-boxed steps (ADHD) or short, plain, dyslexia-friendly text — from a one-time profile.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26060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22C55E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3429000"/>
            <a:ext cx="29718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66534"/>
                </a:solidFill>
                <a:latin typeface="Segoe UI"/>
              </a:rPr>
              <a:t>Understanding AND doing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6B7280"/>
                </a:solidFill>
                <a:latin typeface="Segoe UI"/>
              </a:rPr>
              <a:t>Not just ‘I get it’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We attack task initiation &amp; overwhelm — micro-steps, focus mode, a one-tap reset — so understanding turns into 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2860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6060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22C55E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3429000"/>
            <a:ext cx="297180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66534"/>
                </a:solidFill>
                <a:latin typeface="Segoe UI"/>
              </a:rPr>
              <a:t>Built for your brain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0" i="1">
                <a:solidFill>
                  <a:srgbClr val="6B7280"/>
                </a:solidFill>
                <a:latin typeface="Segoe UI"/>
              </a:rPr>
              <a:t>&amp; your firewall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Segoe UI"/>
              </a:rPr>
              <a:t>Calm, sensory-aware by default, running on enterprise data in-tenant —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From chaos to the next clear step — in the real product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938528"/>
            <a:ext cx="4297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11827"/>
                </a:solidFill>
                <a:latin typeface="Segoe UI"/>
              </a:rPr>
              <a:t>Email / Outlook or any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786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96896"/>
            <a:ext cx="4297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11827"/>
                </a:solidFill>
                <a:latin typeface="Segoe UI"/>
              </a:rPr>
              <a:t>AI summary + action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3697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255264"/>
            <a:ext cx="4297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11827"/>
                </a:solidFill>
                <a:latin typeface="Segoe UI"/>
              </a:rPr>
              <a:t>Adaptive breakdown (your profile)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953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913631"/>
            <a:ext cx="4297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11827"/>
                </a:solidFill>
                <a:latin typeface="Segoe UI"/>
              </a:rPr>
              <a:t>Prioritise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537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572000"/>
            <a:ext cx="4297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11827"/>
                </a:solidFill>
                <a:latin typeface="Segoe UI"/>
              </a:rPr>
              <a:t>Focus timer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230367"/>
            <a:ext cx="4297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11827"/>
                </a:solidFill>
                <a:latin typeface="Segoe UI"/>
              </a:rPr>
              <a:t>Execute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1783080"/>
            <a:ext cx="5943600" cy="4251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_summarizer.png"/>
          <p:cNvPicPr>
            <a:picLocks noChangeAspect="1"/>
          </p:cNvPicPr>
          <p:nvPr/>
        </p:nvPicPr>
        <p:blipFill>
          <a:blip r:embed="rId2"/>
          <a:srcRect t="467" b="467"/>
          <a:stretch>
            <a:fillRect/>
          </a:stretch>
        </p:blipFill>
        <p:spPr>
          <a:xfrm>
            <a:off x="5687568" y="1892807"/>
            <a:ext cx="5724144" cy="403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77840" y="612648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280"/>
                </a:solidFill>
                <a:latin typeface="Segoe UI"/>
              </a:rPr>
              <a:t>Real screenshot — the Summarizer turning a messy email into summary, action items &amp; a deadline.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C55E"/>
                </a:solidFill>
                <a:latin typeface="Segoe UI"/>
              </a:rPr>
              <a:t>SEE IT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Live demo — real AI, in seconds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_dashboard.png"/>
          <p:cNvPicPr>
            <a:picLocks noChangeAspect="1"/>
          </p:cNvPicPr>
          <p:nvPr/>
        </p:nvPicPr>
        <p:blipFill>
          <a:blip r:embed="rId2"/>
          <a:srcRect t="4102" b="4102"/>
          <a:stretch>
            <a:fillRect/>
          </a:stretch>
        </p:blipFill>
        <p:spPr>
          <a:xfrm>
            <a:off x="749808" y="1892807"/>
            <a:ext cx="5266944" cy="343814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55080" y="1783080"/>
            <a:ext cx="516636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pp_summarizer.png"/>
          <p:cNvPicPr>
            <a:picLocks noChangeAspect="1"/>
          </p:cNvPicPr>
          <p:nvPr/>
        </p:nvPicPr>
        <p:blipFill>
          <a:blip r:embed="rId3"/>
          <a:srcRect t="1132" b="1132"/>
          <a:stretch>
            <a:fillRect/>
          </a:stretch>
        </p:blipFill>
        <p:spPr>
          <a:xfrm>
            <a:off x="6464808" y="1892807"/>
            <a:ext cx="4946904" cy="34381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5321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  Calm dashboard — one clear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553212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  Email → summary, tasks, hidden deadline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FE3D9"/>
                </a:solidFill>
                <a:latin typeface="Segoe UI"/>
              </a:rPr>
              <a:t>Then: convert to micro-steps with time estimates → Focus Mode strips all but the next step.  </a:t>
            </a:r>
            <a:r>
              <a:rPr sz="1250" b="1" i="0">
                <a:solidFill>
                  <a:srgbClr val="22C55E"/>
                </a:solidFill>
                <a:latin typeface="Segoe UI"/>
              </a:rPr>
              <a:t>We’ll show, not tell.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A9B4B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A9B4B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lm_1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749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From 38 unread emails to one clear next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3E3DB"/>
                </a:solidFill>
                <a:latin typeface="Segoe UI"/>
              </a:rPr>
              <a:t>Same inbox, same deadlines — now understood, broken down, and started. No masking, no asking for help. </a:t>
            </a:r>
            <a:r>
              <a:rPr sz="1400" b="1" i="0">
                <a:solidFill>
                  <a:srgbClr val="22C55E"/>
                </a:solidFill>
                <a:latin typeface="Segoe UI"/>
              </a:rPr>
              <a:t>That’s the point of NeuroSync.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56539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CFE3D9"/>
                </a:solidFill>
                <a:latin typeface="Segoe UI"/>
              </a:rPr>
              <a:t>Photo: StockSnap, CC0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PERSONALISATION — THE CORE OF NEUROSYNC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Built for your brain, not the average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60350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_onboarding.png"/>
          <p:cNvPicPr>
            <a:picLocks noChangeAspect="1"/>
          </p:cNvPicPr>
          <p:nvPr/>
        </p:nvPicPr>
        <p:blipFill>
          <a:blip r:embed="rId2"/>
          <a:srcRect t="1798" b="1798"/>
          <a:stretch>
            <a:fillRect/>
          </a:stretch>
        </p:blipFill>
        <p:spPr>
          <a:xfrm>
            <a:off x="749808" y="1938528"/>
            <a:ext cx="5815583" cy="39867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8076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280"/>
                </a:solidFill>
                <a:latin typeface="Segoe UI"/>
              </a:rPr>
              <a:t>Real screenshot — the one-time, opt-in profile (no labels, no diagnosis).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4599432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1828800"/>
            <a:ext cx="109728" cy="1234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965960"/>
            <a:ext cx="4206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6534"/>
                </a:solidFill>
                <a:latin typeface="Segoe UI"/>
              </a:rPr>
              <a:t>A one-time profile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You answer a few opt-in questions; you can change them anytime in Settings.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599432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0" y="3246120"/>
            <a:ext cx="109728" cy="1234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3383279"/>
            <a:ext cx="4206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6534"/>
                </a:solidFill>
                <a:latin typeface="Segoe UI"/>
              </a:rPr>
              <a:t>Same email → your version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ADHD: time-boxed micro-steps + focus timer. Dyslexia: short, plain, bulleted rewrite.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663440"/>
            <a:ext cx="4599432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0" y="4663440"/>
            <a:ext cx="109728" cy="1234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4800600"/>
            <a:ext cx="42062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6534"/>
                </a:solidFill>
                <a:latin typeface="Segoe UI"/>
              </a:rPr>
              <a:t>Learns over time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11827"/>
                </a:solidFill>
                <a:latin typeface="Segoe UI"/>
              </a:rPr>
              <a:t>Behaviour-aware tuning — if steps run over, NeuroSync adjusts future time estimates.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AI ARCHITECTURE &amp; 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Real today — and enterprise-ready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7315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984248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11827"/>
                </a:solidFill>
                <a:latin typeface="Segoe UI"/>
              </a:rPr>
              <a:t>React + Vite + Tailwind — calm, accessible UI (dyslexia font, high contrast, reduced motion)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39"/>
            <a:ext cx="7315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3063239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172968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11827"/>
                </a:solidFill>
                <a:latin typeface="Segoe UI"/>
              </a:rPr>
              <a:t>ASP.NET Core API + SQL — Tasks, Projects, Summarizer, per-user personalization (all live)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51959"/>
            <a:ext cx="73152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4251959"/>
            <a:ext cx="1737360" cy="105156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AI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4361688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11827"/>
                </a:solidFill>
                <a:latin typeface="Segoe UI"/>
              </a:rPr>
              <a:t>Azure OpenAI (GPT-5.5), hosted in-tenant — behind a provider-agnostic, swappable interface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160520" y="2926080"/>
            <a:ext cx="274320" cy="164592"/>
          </a:xfrm>
          <a:prstGeom prst="downArrow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4160520" y="4114800"/>
            <a:ext cx="274320" cy="164592"/>
          </a:xfrm>
          <a:prstGeom prst="downArrow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5440680"/>
            <a:ext cx="7315200" cy="822960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532120"/>
            <a:ext cx="6858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3D2E"/>
                </a:solidFill>
                <a:latin typeface="Segoe UI"/>
              </a:rPr>
              <a:t>Cloud-agnostic &amp; swappable.</a:t>
            </a:r>
            <a:r>
              <a:rPr sz="1250" b="0" i="0">
                <a:solidFill>
                  <a:srgbClr val="166534"/>
                </a:solidFill>
                <a:latin typeface="Segoe UI"/>
              </a:rPr>
              <a:t> Changing AI provider is a config change, not a rewrite. Data stays in-tenant.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364992" cy="4389120"/>
          </a:xfrm>
          <a:prstGeom prst="roundRect">
            <a:avLst>
              <a:gd name="adj" fmla="val 6000"/>
            </a:avLst>
          </a:prstGeom>
          <a:solidFill>
            <a:srgbClr val="0F3D2E"/>
          </a:solidFill>
          <a:ln>
            <a:noFill/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574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C55E"/>
                </a:solidFill>
                <a:latin typeface="Segoe UI"/>
              </a:rPr>
              <a:t>Integrations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0604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Outlook (Microsoft Graph)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8986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F3D2E"/>
                </a:solidFill>
                <a:latin typeface="Segoe UI"/>
              </a:rPr>
              <a:t>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50215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Microsoft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37947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CFE3D9"/>
                </a:solidFill>
                <a:latin typeface="Segoe UI"/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398264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Azure DevOps / Jira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46908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CFE3D9"/>
                </a:solidFill>
                <a:latin typeface="Segoe UI"/>
              </a:rPr>
              <a:t>Planned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294376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More accessibility profiles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558698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2A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CFE3D9"/>
                </a:solidFill>
                <a:latin typeface="Segoe UI"/>
              </a:rPr>
              <a:t>Planned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ETHICS &amp; INCLUSION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Responsible and inclusive by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352044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6534"/>
                </a:solidFill>
                <a:latin typeface="Segoe UI"/>
              </a:rPr>
              <a:t>No diagnosis, no labels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Support is an opt-in choice — never an assumption about anyone.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920240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920240"/>
            <a:ext cx="352044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6534"/>
                </a:solidFill>
                <a:latin typeface="Segoe UI"/>
              </a:rPr>
              <a:t>Human-in-the-loop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The AI suggests; the person edits and approves. Nothing auto-acts.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920240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9" y="1920240"/>
            <a:ext cx="352044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21031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6534"/>
                </a:solidFill>
                <a:latin typeface="Segoe UI"/>
              </a:rPr>
              <a:t>Privacy by design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Enterprise data stays within enterprise governance, in-tenant.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352044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6534"/>
                </a:solidFill>
                <a:latin typeface="Segoe UI"/>
              </a:rPr>
              <a:t>Sourced nudges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Wellbeing prompts use recognised, published techniques.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749039"/>
            <a:ext cx="352044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9319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6534"/>
                </a:solidFill>
                <a:latin typeface="Segoe UI"/>
              </a:rPr>
              <a:t>Inclusive by default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Calm UI, dyslexia font, high contrast, reduced motion — for everyone.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52044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3749039"/>
            <a:ext cx="3520440" cy="1097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3931920"/>
            <a:ext cx="3063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66534"/>
                </a:solidFill>
                <a:latin typeface="Segoe UI"/>
              </a:rPr>
              <a:t>Transparent output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</a:rPr>
              <a:t>The original source is always one click away to verify.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From prototype to pilot to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20440" cy="4023360"/>
          </a:xfrm>
          <a:prstGeom prst="roundRect">
            <a:avLst>
              <a:gd name="adj" fmla="val 5000"/>
            </a:avLst>
          </a:prstGeom>
          <a:solidFill>
            <a:srgbClr val="0F3D2E"/>
          </a:solidFill>
          <a:ln>
            <a:noFill/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640080"/>
          </a:xfrm>
          <a:prstGeom prst="roundRect">
            <a:avLst>
              <a:gd name="adj" fmla="val 6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3D2E"/>
                </a:solidFill>
                <a:latin typeface="Segoe UI"/>
              </a:rPr>
              <a:t>NOW —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97480"/>
            <a:ext cx="3063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8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AI summariser + adaptive task breakdown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Per-user personalization profile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Projects, due dates, focus mode + timers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Outlook email → task (Microsoft Graph)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Azure OpenAI (GPT-5.5) in-tenant; guest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920240"/>
            <a:ext cx="3520440" cy="4023360"/>
          </a:xfrm>
          <a:prstGeom prst="roundRect">
            <a:avLst>
              <a:gd name="adj" fmla="val 5000"/>
            </a:avLst>
          </a:prstGeom>
          <a:solidFill>
            <a:srgbClr val="166534"/>
          </a:solidFill>
          <a:ln>
            <a:noFill/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520440" cy="640080"/>
          </a:xfrm>
          <a:prstGeom prst="roundRect">
            <a:avLst>
              <a:gd name="adj" fmla="val 6000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3D2E"/>
                </a:solidFill>
                <a:latin typeface="Segoe UI"/>
              </a:rPr>
              <a:t>NEXT — 1–3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697480"/>
            <a:ext cx="3063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8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Validated pilot with a neurodiversity ERG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Behaviour-aware learning (auto time tuning)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Teams + Azure DevOps / Jira connectors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FFFFFF"/>
                </a:solidFill>
                <a:latin typeface="Segoe UI"/>
              </a:rPr>
              <a:t>Agentic reminders before login;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920240"/>
            <a:ext cx="352044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>
            <a:outerShdw blurRad="90000" dist="38100" dir="5400000" rotWithShape="0">
              <a:srgbClr val="111827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19" y="1920240"/>
            <a:ext cx="3520440" cy="6400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3D2E"/>
                </a:solidFill>
                <a:latin typeface="Segoe UI"/>
              </a:rPr>
              <a:t>LATER —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1" y="2697480"/>
            <a:ext cx="3063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800" b="0" i="0">
                <a:solidFill>
                  <a:srgbClr val="111827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11827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111827"/>
                </a:solidFill>
                <a:latin typeface="Segoe UI"/>
              </a:rPr>
              <a:t>Emergency handling (on leave → reassign / notify)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11827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111827"/>
                </a:solidFill>
                <a:latin typeface="Segoe UI"/>
              </a:rPr>
              <a:t>Supervisor profile + escalation workflows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11827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111827"/>
                </a:solidFill>
                <a:latin typeface="Segoe UI"/>
              </a:rPr>
              <a:t>More language &amp; low-vision / screen-reader modes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11827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111827"/>
                </a:solidFill>
                <a:latin typeface="Segoe UI"/>
              </a:rPr>
              <a:t>Privacy-safe manager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24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Aanya doesn’t need to be fixed.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22C55E"/>
                </a:solidFill>
                <a:latin typeface="Segoe UI"/>
              </a:rPr>
              <a:t>Her workday does.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968" y="3794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D3E3DB"/>
                </a:solidFill>
                <a:latin typeface="Segoe UI"/>
              </a:rPr>
              <a:t>NeuroSync levels the playing field — quietly, respectfully, and at scale.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6968" y="4800600"/>
            <a:ext cx="8686800" cy="868680"/>
          </a:xfrm>
          <a:prstGeom prst="roundRect">
            <a:avLst>
              <a:gd name="adj" fmla="val 10000"/>
            </a:avLst>
          </a:prstGeom>
          <a:solidFill>
            <a:srgbClr val="154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937760"/>
            <a:ext cx="8229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2C55E"/>
                </a:solidFill>
                <a:latin typeface="Segoe UI"/>
              </a:rPr>
              <a:t>Our ask: </a:t>
            </a:r>
            <a:r>
              <a:rPr sz="1500" b="0" i="0">
                <a:solidFill>
                  <a:srgbClr val="FFFFFF"/>
                </a:solidFill>
                <a:latin typeface="Segoe UI"/>
              </a:rPr>
              <a:t>help us pilot NeuroSync with a neurodiversity employee resource group.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5943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A9B4B0"/>
                </a:solidFill>
                <a:latin typeface="Segoe UI"/>
              </a:rPr>
              <a:t>NeuroSync · Work, in sync with how you think.   Thank you — questions welcome.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6534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11827"/>
                </a:solidFill>
                <a:latin typeface="Segoe UI"/>
              </a:rPr>
              <a:t>Sources &amp; references (clickable)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56231"/>
            <a:ext cx="1051560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166534"/>
                </a:solidFill>
                <a:latin typeface="Segoe UI"/>
              </a:rPr>
              <a:t>1.  </a:t>
            </a:r>
            <a:r>
              <a:rPr sz="1250" b="1">
                <a:solidFill>
                  <a:srgbClr val="1D4ED8"/>
                </a:solidFill>
                <a:latin typeface="Segoe UI"/>
                <a:hlinkClick r:id="rId2"/>
              </a:rPr>
              <a:t>Accenture — ‘Getting to Equal: The Disability Inclusion Advantage’ (2018)</a:t>
            </a:r>
          </a:p>
          <a:p>
            <a:r>
              <a:rPr sz="1050">
                <a:solidFill>
                  <a:srgbClr val="6B7280"/>
                </a:solidFill>
                <a:latin typeface="Segoe UI"/>
              </a:rPr>
              <a:t>Leaders averaged ~28% higher revenue, 2× net income, 30% higher economic profit margin (4 yrs).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908792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24912"/>
            <a:ext cx="1051560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166534"/>
                </a:solidFill>
                <a:latin typeface="Segoe UI"/>
              </a:rPr>
              <a:t>2.  </a:t>
            </a:r>
            <a:r>
              <a:rPr sz="1250" b="1">
                <a:solidFill>
                  <a:srgbClr val="1D4ED8"/>
                </a:solidFill>
                <a:latin typeface="Segoe UI"/>
                <a:hlinkClick r:id="rId3"/>
              </a:rPr>
              <a:t>Accenture / Disability:IN / AAPD — ‘The Disability Inclusion Imperative’ (2023)</a:t>
            </a:r>
          </a:p>
          <a:p>
            <a:r>
              <a:rPr sz="1050">
                <a:solidFill>
                  <a:srgbClr val="6B7280"/>
                </a:solidFill>
                <a:latin typeface="Segoe UI"/>
              </a:rPr>
              <a:t>Leaders saw 1.6× revenue, 2.6× net income, 2× economic profit vs. peers (5 yrs).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20439"/>
            <a:ext cx="10908792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3591"/>
            <a:ext cx="1051560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166534"/>
                </a:solidFill>
                <a:latin typeface="Segoe UI"/>
              </a:rPr>
              <a:t>3.  </a:t>
            </a:r>
            <a:r>
              <a:rPr sz="1250" b="1">
                <a:solidFill>
                  <a:srgbClr val="1D4ED8"/>
                </a:solidFill>
                <a:latin typeface="Segoe UI"/>
                <a:hlinkClick r:id="rId4"/>
              </a:rPr>
              <a:t>Neurodiversity in the Workplace — mydisabilityjobs.com (2025)</a:t>
            </a:r>
          </a:p>
          <a:p>
            <a:r>
              <a:rPr sz="1050">
                <a:solidFill>
                  <a:srgbClr val="6B7280"/>
                </a:solidFill>
                <a:latin typeface="Segoe UI"/>
              </a:rPr>
              <a:t>51% of neurodivergent employees have taken time off; ADHD/dyslexia comorbidity (City &amp; Guilds Index).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9120"/>
            <a:ext cx="10908792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2272"/>
            <a:ext cx="1051560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166534"/>
                </a:solidFill>
                <a:latin typeface="Segoe UI"/>
              </a:rPr>
              <a:t>4.  </a:t>
            </a:r>
            <a:r>
              <a:rPr sz="1250" b="1">
                <a:solidFill>
                  <a:srgbClr val="1D4ED8"/>
                </a:solidFill>
                <a:latin typeface="Segoe UI"/>
                <a:hlinkClick r:id="rId5"/>
              </a:rPr>
              <a:t>Accenture 2018 — full research report (PDF)</a:t>
            </a:r>
          </a:p>
          <a:p>
            <a:r>
              <a:rPr sz="1050">
                <a:solidFill>
                  <a:srgbClr val="6B7280"/>
                </a:solidFill>
                <a:latin typeface="Segoe UI"/>
              </a:rPr>
              <a:t>Primary source for the 28% / 2× / 30% figures.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11827"/>
                </a:solidFill>
                <a:latin typeface="Segoe UI"/>
              </a:rPr>
              <a:t>Image credits: </a:t>
            </a:r>
            <a:r>
              <a:rPr sz="950" b="0">
                <a:solidFill>
                  <a:srgbClr val="1D4ED8"/>
                </a:solidFill>
                <a:latin typeface="Segoe UI"/>
                <a:hlinkClick r:id="rId6"/>
              </a:rPr>
              <a:t>Aanya (stress) — CIPHR Connect, CC BY 2.0</a:t>
            </a:r>
            <a:r>
              <a:rPr sz="950">
                <a:solidFill>
                  <a:srgbClr val="6B7280"/>
                </a:solidFill>
                <a:latin typeface="Segoe UI"/>
              </a:rPr>
              <a:t>   ·   </a:t>
            </a:r>
            <a:r>
              <a:rPr sz="950" b="0">
                <a:solidFill>
                  <a:srgbClr val="1D4ED8"/>
                </a:solidFill>
                <a:latin typeface="Segoe UI"/>
                <a:hlinkClick r:id="rId7"/>
              </a:rPr>
              <a:t>Aanya (calm) — StockSnap, CC0</a:t>
            </a:r>
            <a:r>
              <a:rPr sz="950">
                <a:solidFill>
                  <a:srgbClr val="6B7280"/>
                </a:solidFill>
                <a:latin typeface="Segoe UI"/>
              </a:rPr>
              <a:t>   ·   </a:t>
            </a:r>
            <a:r>
              <a:rPr sz="950" b="0">
                <a:solidFill>
                  <a:srgbClr val="1D4ED8"/>
                </a:solidFill>
                <a:latin typeface="Segoe UI"/>
                <a:hlinkClick r:id="rId8"/>
              </a:rPr>
              <a:t>Team — StockSnap, CC0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280"/>
                </a:solidFill>
                <a:latin typeface="Segoe UI"/>
              </a:rPr>
              <a:t>Other images are real screenshots of the NeuroSync product. Tier-1 sources prioritised; figures verified against primary 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NeuroSync · Work, in sync with how you think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