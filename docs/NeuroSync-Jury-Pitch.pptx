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NeuroSync. Before we show you anything we built, we want to tell you about one ordinary Monday morning. (Set a calm tone — one line, then move.)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Aanya's story slowly — this is the emotional hook. No tech yet. Land the last line: it's not about ability, it's about tools not designed for how she thinks.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problem in one sentence (the bold block). Then the business impact. This is the 'problem statement' the jury asked for — say it before any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the financial stat to an Accenture jury — it's Accenture's own research. The comorbidity stat defuses the 'you're doing two disabilities' critique: it's one connected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the incumbents don't do together. This is the differentiation the jury demanded. Then bridge: 'instead of more slides, let us show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running app and follow DEMO-SCRIPT.md. Keep the backup recording ready. End: 'same email — now understood, broken down, started, and she never had to mask or ask for help.'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Generic AI summarises. NeuroSync adapts to the person, helps them act, supports them in the moment, and respects enterprise data. That combination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careful because this community is sensitive. This slide directly answers 'ethical/responsible AI' — a scored criterion. Keep it crisp.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data-security question: 'for the demo we use Gemini; in production this runs on Azure OpenAI in our own tenant.' Covers privacy + feasibility + responsible AI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THIS jury — it shows we listened. Optional to present in full; great to have for Q&amp;A. Move through it quickly with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you saw is real and on Azure. The near-term ask is a validated pilot. Connectors and more accessibility profiles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 line. Make a concrete ask (a pilot). Thank them and invite questions — see QA-PREP.md.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available for Q&amp;A. If a juror challenges a number, point to the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ydisabilityjobs.com/statistics/neurodiversity-in-the-workplace/" TargetMode="External"/><Relationship Id="rId3" Type="http://schemas.openxmlformats.org/officeDocument/2006/relationships/hyperlink" Target="https://www.accenture.com/_acnmedia/pdf-89/accenture-disability-inclusion-research-report.pdf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ccenture.com/_acnmedia/pdf-89/accenture-disability-inclusion-research-report.pdf" TargetMode="External"/><Relationship Id="rId3" Type="http://schemas.openxmlformats.org/officeDocument/2006/relationships/hyperlink" Target="https://newsroom.accenture.com/news/2023/companies-that-lead-in-disability-inclusion-outperform-peers-financially-reveals-new-research-from-accenture" TargetMode="External"/><Relationship Id="rId4" Type="http://schemas.openxmlformats.org/officeDocument/2006/relationships/hyperlink" Target="https://legislative.gov.in/sites/default/files/A2016-49.pdf" TargetMode="External"/><Relationship Id="rId5" Type="http://schemas.openxmlformats.org/officeDocument/2006/relationships/hyperlink" Target="https://community.nasscom.in/communities/neurodiversity/neurodiversity-and-future-work-india" TargetMode="External"/><Relationship Id="rId6" Type="http://schemas.openxmlformats.org/officeDocument/2006/relationships/hyperlink" Target="https://www.hrkatha.com/features/research/the-85-invisibility-why-indias-neurodiverse-talent-stays-hidden/" TargetMode="External"/><Relationship Id="rId7" Type="http://schemas.openxmlformats.org/officeDocument/2006/relationships/hyperlink" Target="https://www.frontiersin.org/journals/psychology/articles/10.3389/fpsyg.2025.1547877/full" TargetMode="External"/><Relationship Id="rId8" Type="http://schemas.openxmlformats.org/officeDocument/2006/relationships/hyperlink" Target="https://onlinelibrary.wiley.com/doi/10.1002/hrm.22243" TargetMode="External"/><Relationship Id="rId9" Type="http://schemas.openxmlformats.org/officeDocument/2006/relationships/hyperlink" Target="https://mydisabilityjobs.com/statistics/neurodiversity-in-the-workplace/" TargetMode="External"/><Relationship Id="rId10" Type="http://schemas.openxmlformats.org/officeDocument/2006/relationships/hyperlink" Target="https://disabilityin.org/articles-and-updates/disability-in-unveils-innovative-evidence-based-framework-to-advance-neuroinclusion-in-the-workforce" TargetMode="Externa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Segoe UI"/>
              </a:rPr>
              <a:t>NeuroSync</a:t>
            </a:r>
          </a:p>
          <a:p>
            <a:pPr algn="l">
              <a:spcAft>
                <a:spcPts val="1400"/>
              </a:spcAft>
            </a:pPr>
            <a:r>
              <a:rPr sz="2600" b="1" i="0">
                <a:solidFill>
                  <a:srgbClr val="22C55E"/>
                </a:solidFill>
                <a:latin typeface="Segoe UI"/>
              </a:rPr>
              <a:t>Work, in sync with how you think.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An inclusive work companion for neurodivergent employees (ADHD &amp; dyslexia)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Presented by: [Your team]   ·   Accenture Inclusion Hackathon — Final Jury,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THE HUMAN STORY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Meet Aanya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A talented analyst. She has ADHD and dyslexia.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Monday, 9 AM: 38 unread emails, 4 chat threads, 6 tickets.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One email hides three tasks and a Thursday deadline in the third paragraph.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She re-reads it four times. Opens a ticket. A notification pulls her away.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An hour later — she still hasn't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257800"/>
            <a:ext cx="10789920" cy="9144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3D2E"/>
                </a:solidFill>
                <a:latin typeface="Segoe UI"/>
              </a:rPr>
              <a:t>This isn't about Aanya's ability. Her workday was built for a brain that isn't 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A hidden 'cognitive tax'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11827"/>
                </a:solidFill>
                <a:latin typeface="Segoe UI"/>
              </a:rPr>
              <a:t>Turning workplace text into started, finished work costs employees with ADHD and dyslexia far more energy — not because of capability, but because mainstream tools assume one way of processing information.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1188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Tasks, deadlines and priorities are buried inside long emails, chats and tickets.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The result: missed deadlines, burnout and absence, and constant 'masking'.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For the business: wasted talent and avoidable attrition.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51% of neurodivergent employees have taken time off due to their condition — Neurodiversity in the Workplace statistics, mydisabilityjobs.com (2025).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WHO IT'S FOR — AND WHY IT MATTERS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A specific audience, a connected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15–20%</a:t>
            </a:r>
            <a:r>
              <a:rPr sz="1300" b="1" i="0" baseline="30000">
                <a:solidFill>
                  <a:srgbClr val="22C55E"/>
                </a:solidFill>
                <a:latin typeface="Segoe UI"/>
                <a:hlinkClick r:id="rId2"/>
              </a:rPr>
              <a:t> 8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of people are neurodivergent (ADHD, autism, dyslexia, dyspraxia)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~1 in 2</a:t>
            </a:r>
            <a:r>
              <a:rPr sz="1300" b="1" i="0" baseline="30000">
                <a:solidFill>
                  <a:srgbClr val="22C55E"/>
                </a:solidFill>
                <a:latin typeface="Segoe UI"/>
                <a:hlinkClick r:id="rId2"/>
              </a:rPr>
              <a:t> 8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people with ADHD also have dyslexia — so it's ONE connected problem, not two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+28% / 2x / +30%</a:t>
            </a:r>
            <a:r>
              <a:rPr sz="1300" b="1" i="0" baseline="30000">
                <a:solidFill>
                  <a:srgbClr val="22C55E"/>
                </a:solidFill>
                <a:latin typeface="Segoe UI"/>
                <a:hlinkClick r:id="rId3"/>
              </a:rPr>
              <a:t> 1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revenue / net income / profit margin for disability-inclusion leaders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11827"/>
                </a:solidFill>
                <a:latin typeface="Segoe UI"/>
              </a:rPr>
              <a:t>Our user: Accenture employees with ADHD and/or dyslexia.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5B616E"/>
                </a:solidFill>
                <a:latin typeface="Segoe UI"/>
              </a:rPr>
              <a:t>Accenture's own research already proved inclusion pays. NeuroSync operationalises it for the neurodivergent talent already inside our walls.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Accenture, 'Getting to Equal: The Disability Inclusion Advantage' (2018). Prevalence &amp; ADHD/dyslexia comorbidity: mydisabilityjobs.com (2025).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OUR SOLUTION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NeuroSync — and 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11827"/>
                </a:solidFill>
                <a:latin typeface="Segoe UI"/>
              </a:rPr>
              <a:t>An inclusive work companion that turns the chaos of workplace communication into clarity and momentum — adapted to how each person's brain 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1  Adaptive output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"Same message, rendered for your brain." The same email becomes time-boxed steps (ADHD) or short, plain, dyslexia-friendly text — Copilot gives everyone the identical summary.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2  Understanding -&gt; doing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"From 'I get it' to 'I started.'" We attack task initiation and overwhelm, not just comprehension: micro-steps, focus mode, a one-tap reset.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3  Inclusion-first &amp; enterprise-native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"Built for your brain AND your firewall." Calm, sensory-aware by default, running on enterprise data behind governance — not a public chatbot.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SEE IT WORK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Live demo — real AI,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Paste Aanya's messy email — or pull it straight from Outlook (Microsoft Graph).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NeuroSync returns a plain summary, the real action items, and the hidden Thursday deadline.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Toggle Dyslexia mode — the same content, re-rendered for a dyslexic reader.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Send it to the Planner — AI breaks it into ordered micro-steps with time estimates.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Focus Mode strips everything but the next step. 'Feeling overwhelmed?' gives a calm reset.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440680"/>
            <a:ext cx="1078992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59552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Running live on real AI (Google Gemini today; Azure OpenAI in production).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DIFFERENTIATION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Why NeuroSync, not Copilot / ChatGPT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560320"/>
                <a:gridCol w="2560320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NeuroSync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Copilot / ChatGPT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Adapts output to your cognitive profile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Helps you START, not just understand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In-the-moment regulation (overwhelm reset)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Runs on enterprise data + governance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9A6A00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ETHICS &amp; INCLUSION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Responsible and inclusive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No diagnosis, no labels — support is an opt-in user choice, never an assumption.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Human-in-the-loop — the AI suggests; the person edits and approves. Nothing auto-acts.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Sourced nudges — wellbeing prompts are based on recognised, published techniques.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Privacy by design — enterprise data stays within enterprise governance.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Inclusive by default — calm UI, dyslexia font, high contrast, reduced motion for everyone.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FEASIBILITY &amp; SECURITY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Real today — and enterprise-ready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Working MVP: React frontend + ASP.NET Core API + SQL on Azure, with real AI (Google Gemini).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Real Outlook integration via Microsoft Graph (email -&gt; AI-broken-down task).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Security: in production the AI runs on Azure OpenAI inside our tenant — client data never leaves Accenture's compliance boundary; self-hosted open models for the most sensitive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The AI sits behind an interface, so switching providers is a config change, not a rewrite.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Scales as a lightweight enterprise layer; the adaptive engine extends to more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Architecture &amp; security detail: repo docs/SECURITY-AND-AI.md and docs/OUTLOOK-INTEGRATION.md.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ACTING ON YOUR FEEDBACK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How we sharpened it since the last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7899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217920"/>
              </a:tblGrid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Your feedback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What we changed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No clear problem statement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Problem-first story (Aanya) + a one-line problem and business impact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Target audience too vague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Accenture employees with ADHD/dyslexia — a named persona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'Productivity' implies they're less productive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Reframed as an inclusive companion that removes friction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Overlaps with Copilot / ChatGPT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Three concrete USPs the incumbents don't combine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Needs validation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User interviews + credible, cited research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Name not justified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Neuro + Sync = sync work to how your brain works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WHAT'S NEXT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From prototype to 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NOW — working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AI task breakdown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Plain-language summarizer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Outlook email -&gt; task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Focus mode + overwhelm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NEXT — 1-3 months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Validated pilot with a neurodiversity ERG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Azure OpenAI in-tenant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Teams &amp; Jira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LATER — scale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More language profiles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Low-vision / screen-reader modes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Manager insights (privacy-safe)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Aanya doesn't need to be fixed. Her workday does.</a:t>
            </a:r>
          </a:p>
          <a:p>
            <a:pPr algn="l">
              <a:spcAft>
                <a:spcPts val="2200"/>
              </a:spcAft>
            </a:pPr>
            <a:r>
              <a:rPr sz="2000" b="0" i="0">
                <a:solidFill>
                  <a:srgbClr val="22C55E"/>
                </a:solidFill>
                <a:latin typeface="Segoe UI"/>
              </a:rPr>
              <a:t>NeuroSync levels the playing field — quietly, respectfully, and at scale.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Our ask: help us pilot NeuroSync with a neurodiversity employee resource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NeuroSync  ·  Work, in sync with how you think.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CREDIBILITY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Sources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1.  Accenture — 'Getting to Equal: The Disability Inclusion Advantage' (2018)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2"/>
              </a:rPr>
              <a:t>https://www.accenture.com/_acnmedia/pdf-89/accenture-disability-inclusion-research-report.pdf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2.  Accenture / Disability:IN / AAPD — 'The Disability Inclusion Imperative' (2023)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3"/>
              </a:rPr>
              <a:t>https://newsroom.accenture.com/news/2023/companies-that-lead-in-disability-inclusion-outperform-peers-financially-reveals-new-research-from-accenture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3.  Government of India — Rights of Persons with Disabilities Act, 2016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4"/>
              </a:rPr>
              <a:t>https://legislative.gov.in/sites/default/files/A2016-49.pdf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4.  nasscom — 'Neurodiversity and the Future of Work in India'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5"/>
              </a:rPr>
              <a:t>https://community.nasscom.in/communities/neurodiversity/neurodiversity-and-future-work-india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5.  HRKatha — 'The 85% invisibility: Why India's neurodiverse talent stays hidden' (2024-25)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6"/>
              </a:rPr>
              <a:t>https://www.hrkatha.com/features/research/the-85-invisibility-why-indias-neurodiverse-talent-stays-hidden/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6.  Frontiers in Psychology (2025) — universal support for neurodivergent employees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7"/>
              </a:rPr>
              <a:t>https://www.frontiersin.org/journals/psychology/articles/10.3389/fpsyg.2025.1547877/full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7.  Branicki et al. — Human Resource Management, Wiley (2024)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8"/>
              </a:rPr>
              <a:t>https://onlinelibrary.wiley.com/doi/10.1002/hrm.22243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8.  mydisabilityjobs.com — 'Neurodiversity in the Workplace | Statistics' (2025)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9"/>
              </a:rPr>
              <a:t>https://mydisabilityjobs.com/statistics/neurodiversity-in-the-workplace/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9.  Disability:IN — evidence-based neuroinclusion framework — </a:t>
            </a:r>
            <a:r>
              <a:rPr sz="1050" b="0" i="0">
                <a:solidFill>
                  <a:srgbClr val="22C55E"/>
                </a:solidFill>
                <a:latin typeface="Segoe UI"/>
                <a:hlinkClick r:id="rId10"/>
              </a:rPr>
              <a:t>https://disabilityin.org/articles-and-updates/disability-in-unveils-innovative-evidence-based-framework-to-advance-neuroinclusion-in-the-workforce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616E"/>
                </a:solidFill>
                <a:latin typeface="Segoe UI"/>
              </a:rPr>
              <a:t>Tier-1 sources (Accenture / industry bodies / peer-reviewed) are prioritised; verify exact figures against primary sources before the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