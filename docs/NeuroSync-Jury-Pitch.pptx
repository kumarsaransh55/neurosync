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we're team NeuroSync. Before we show you anything we built, we want to tell you about one ordinary Monday morning. (Set a calm tone — one line, then move.)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Aanya's story slowly — this is the emotional hook. No tech yet. Land the last line: it's not about ability, it's about tools not designed for how she thinks.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problem in one sentence (the bold block). Then the business impact. This is the 'problem statement' the jury asked for — say it before any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the financial stat to an Accenture jury — it's Accenture's own research. The comorbidity stat defuses the 'you're doing two disabilities' critique: it's one connected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the incumbents don't do together. This is the differentiation the jury demanded. Then bridge: 'instead of more slides, let us show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running app and follow DEMO-SCRIPT.md. Keep the backup recording ready. End: 'same email — now understood, broken down, started, and she never had to mask or ask for help.'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Generic AI summarises. NeuroSync adapts to the person, helps them act, supports them in the moment, and respects enterprise data. That combination is the moat.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careful because this community is sensitive. This slide directly answers 'ethical/responsible AI' — a scored criterion. Keep it crisp.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data-security question: 'for the demo we use Gemini; in production this runs on Azure OpenAI in our own tenant.' Covers privacy + feasibility + responsible AI in one breath.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for THIS jury — it shows we listened. Optional to present in full; great to have for Q&amp;A. Move through it quickly with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 saw is real and on Azure. The near-term ask is a validated pilot. Connectors and more accessibility profiles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mission line. Make a concrete ask (a pilot). Thank them and invite questions — see QA-PREP.md.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available for Q&amp;A. If a juror challenges a number, point to the primary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disabilityjobs.com/statistics/neurodiversity-in-the-workplace/" TargetMode="External"/><Relationship Id="rId3" Type="http://schemas.openxmlformats.org/officeDocument/2006/relationships/hyperlink" Target="https://www.accenture.com/_acnmedia/pdf-89/accenture-disability-inclusion-research-report.pdf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ccenture.com/_acnmedia/pdf-89/accenture-disability-inclusion-research-report.pdf" TargetMode="External"/><Relationship Id="rId3" Type="http://schemas.openxmlformats.org/officeDocument/2006/relationships/hyperlink" Target="https://newsroom.accenture.com/news/2023/companies-that-lead-in-disability-inclusion-outperform-peers-financially-reveals-new-research-from-accenture" TargetMode="External"/><Relationship Id="rId4" Type="http://schemas.openxmlformats.org/officeDocument/2006/relationships/hyperlink" Target="https://legislative.gov.in/sites/default/files/A2016-49.pdf" TargetMode="External"/><Relationship Id="rId5" Type="http://schemas.openxmlformats.org/officeDocument/2006/relationships/hyperlink" Target="https://community.nasscom.in/communities/neurodiversity/neurodiversity-and-future-work-india" TargetMode="External"/><Relationship Id="rId6" Type="http://schemas.openxmlformats.org/officeDocument/2006/relationships/hyperlink" Target="https://www.hrkatha.com/features/research/the-85-invisibility-why-indias-neurodiverse-talent-stays-hidden/" TargetMode="External"/><Relationship Id="rId7" Type="http://schemas.openxmlformats.org/officeDocument/2006/relationships/hyperlink" Target="https://www.frontiersin.org/journals/psychology/articles/10.3389/fpsyg.2025.1547877/full" TargetMode="External"/><Relationship Id="rId8" Type="http://schemas.openxmlformats.org/officeDocument/2006/relationships/hyperlink" Target="https://onlinelibrary.wiley.com/doi/10.1002/hrm.22243" TargetMode="External"/><Relationship Id="rId9" Type="http://schemas.openxmlformats.org/officeDocument/2006/relationships/hyperlink" Target="https://mydisabilityjobs.com/statistics/neurodiversity-in-the-workplace/" TargetMode="External"/><Relationship Id="rId10" Type="http://schemas.openxmlformats.org/officeDocument/2006/relationships/hyperlink" Target="https://disabilityin.org/articles-and-updates/disability-in-unveils-innovative-evidence-based-framework-to-advance-neuroinclusion-in-the-workforce" TargetMode="External"/><Relationship Id="rId1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Segoe UI"/>
              </a:rPr>
              <a:t>NeuroSync</a:t>
            </a:r>
          </a:p>
          <a:p>
            <a:pPr algn="l">
              <a:spcAft>
                <a:spcPts val="1400"/>
              </a:spcAft>
            </a:pPr>
            <a:r>
              <a:rPr sz="2600" b="1" i="0">
                <a:solidFill>
                  <a:srgbClr val="22C55E"/>
                </a:solidFill>
                <a:latin typeface="Segoe UI"/>
              </a:rPr>
              <a:t>Work, in sync with how you think.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"/>
              </a:rPr>
              <a:t>An inclusive work companion for neurodivergent employees (ADHD &amp; dyslexia)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Presented by: [Your team]   ·   Accenture Inclusion Hackathon — Final Jury,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THE HUMAN STORY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Meet Aanya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A talented analyst. She has ADHD and dyslexia.</a:t>
            </a:r>
          </a:p>
          <a:p>
            <a:pPr algn="l">
              <a:spcAft>
                <a:spcPts val="11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Monday, 9 AM: 38 unread emails, 4 chat threads, 6 tickets.</a:t>
            </a:r>
          </a:p>
          <a:p>
            <a:pPr algn="l">
              <a:spcAft>
                <a:spcPts val="11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One email hides three tasks and a Thursday deadline in the third paragraph.</a:t>
            </a:r>
          </a:p>
          <a:p>
            <a:pPr algn="l">
              <a:spcAft>
                <a:spcPts val="11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She re-reads it four times. Opens a ticket. A notification pulls her away.</a:t>
            </a:r>
          </a:p>
          <a:p>
            <a:pPr algn="l">
              <a:spcAft>
                <a:spcPts val="11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An hour later — she still hasn't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257800"/>
            <a:ext cx="10789920" cy="9144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394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3D2E"/>
                </a:solidFill>
                <a:latin typeface="Segoe UI"/>
              </a:rPr>
              <a:t>This isn't about Aanya's ability. Her workday was built for a brain that isn't hers.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A hidden 'cognitive tax'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11827"/>
                </a:solidFill>
                <a:latin typeface="Segoe UI"/>
              </a:rPr>
              <a:t>Turning workplace text into started, finished work costs employees with ADHD and dyslexia far more energy — not because of capability, but because mainstream tools assume one way of processing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118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Tasks, deadlines and priorities are buried inside long emails, chats and tickets.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The result: missed deadlines, burnout and absence, and constant 'masking'.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For the business: wasted talent and avoidable attrition.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276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B616E"/>
                </a:solidFill>
                <a:latin typeface="Segoe UI"/>
              </a:rPr>
              <a:t>Source: 51% of neurodivergent employees have taken time off due to their condition — Neurodiversity in the Workplace statistics, mydisabilityjobs.com (2025).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WHO IT'S FOR — AND WHY IT MATTERS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A specific audience, a connected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56432" cy="22860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15–20%</a:t>
            </a:r>
            <a:r>
              <a:rPr sz="1300" b="1" i="0" baseline="30000">
                <a:solidFill>
                  <a:srgbClr val="22C55E"/>
                </a:solidFill>
                <a:latin typeface="Segoe UI"/>
                <a:hlinkClick r:id="rId2"/>
              </a:rPr>
              <a:t> 8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Segoe UI"/>
              </a:rPr>
              <a:t>of people are neurodivergent (ADHD, autism, dyslexia, dyspraxia)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456432" cy="22860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48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~1 in 2</a:t>
            </a:r>
            <a:r>
              <a:rPr sz="1300" b="1" i="0" baseline="30000">
                <a:solidFill>
                  <a:srgbClr val="22C55E"/>
                </a:solidFill>
                <a:latin typeface="Segoe UI"/>
                <a:hlinkClick r:id="rId2"/>
              </a:rPr>
              <a:t> 8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Segoe UI"/>
              </a:rPr>
              <a:t>people with ADHD also have dyslexia — so it's ONE connected problem, not two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920240"/>
            <a:ext cx="3456432" cy="22860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48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+28% / 2x / +30%</a:t>
            </a:r>
            <a:r>
              <a:rPr sz="1300" b="1" i="0" baseline="30000">
                <a:solidFill>
                  <a:srgbClr val="22C55E"/>
                </a:solidFill>
                <a:latin typeface="Segoe UI"/>
                <a:hlinkClick r:id="rId3"/>
              </a:rPr>
              <a:t> 1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Segoe UI"/>
              </a:rPr>
              <a:t>revenue / net income / profit margin for disability-inclusion leaders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262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1827"/>
                </a:solidFill>
                <a:latin typeface="Segoe UI"/>
              </a:rPr>
              <a:t>Our user: Accenture employees with ADHD and/or dyslexia.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B616E"/>
                </a:solidFill>
                <a:latin typeface="Segoe UI"/>
              </a:rPr>
              <a:t>Accenture's own research already proved inclusion pays. NeuroSync operationalises it for the neurodivergent talent already inside our walls.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276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B616E"/>
                </a:solidFill>
                <a:latin typeface="Segoe UI"/>
              </a:rPr>
              <a:t>Source: Accenture, 'Getting to Equal: The Disability Inclusion Advantage' (2018). Prevalence &amp; ADHD/dyslexia comorbidity: mydisabilityjobs.com (2025).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OUR SOLUTION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NeuroSync — and what makes it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11827"/>
                </a:solidFill>
                <a:latin typeface="Segoe UI"/>
              </a:rPr>
              <a:t>An inclusive work companion that turns the chaos of workplace communication into clarity and momentum — adapted to how each person's brain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3456432" cy="3383280"/>
          </a:xfrm>
          <a:prstGeom prst="roundRect">
            <a:avLst/>
          </a:prstGeom>
          <a:solidFill>
            <a:srgbClr val="F6F9F8"/>
          </a:solidFill>
          <a:ln w="12700">
            <a:solidFill>
              <a:srgbClr val="D9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3D2E"/>
                </a:solidFill>
                <a:latin typeface="Segoe UI"/>
              </a:rPr>
              <a:t>1  Adaptive output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"Same message, rendered for your brain." A one-time profile you set makes the same email become time-boxed steps (ADHD) or short, plain, dyslexia-friendly text. Copilot gives everyone the identical answer — we adapt to the person.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14600"/>
            <a:ext cx="3456432" cy="3383280"/>
          </a:xfrm>
          <a:prstGeom prst="roundRect">
            <a:avLst/>
          </a:prstGeom>
          <a:solidFill>
            <a:srgbClr val="F6F9F8"/>
          </a:solidFill>
          <a:ln w="12700">
            <a:solidFill>
              <a:srgbClr val="D9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7432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3D2E"/>
                </a:solidFill>
                <a:latin typeface="Segoe UI"/>
              </a:rPr>
              <a:t>2  Understanding -&gt; doing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"From 'I get it' to 'I started.'" We attack task initiation and overwhelm, not just comprehension: micro-steps, focus mode, a one-tap reset.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514600"/>
            <a:ext cx="3456432" cy="3383280"/>
          </a:xfrm>
          <a:prstGeom prst="roundRect">
            <a:avLst/>
          </a:prstGeom>
          <a:solidFill>
            <a:srgbClr val="F6F9F8"/>
          </a:solidFill>
          <a:ln w="12700">
            <a:solidFill>
              <a:srgbClr val="D9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7432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3D2E"/>
                </a:solidFill>
                <a:latin typeface="Segoe UI"/>
              </a:rPr>
              <a:t>3  Inclusion-first &amp; enterprise-native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"Built for your brain AND your firewall." Calm, sensory-aware by default, running on enterprise data behind governance — not a public chatbot.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SEE IT WORK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Live demo — real AI,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Open the profile — NeuroSync already knows Aanya prefers short text and small steps.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Paste her messy email (or pull it from Outlook) → summary, real action items, the hidden Thursday deadline.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The dyslexia-friendly rewrite is short + bulleted — rendered to HER profile, not a generic answer.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Convert to tasks → one task with AI-described micro-steps and time estimates.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Focus Mode strips everything but the next step. 'Feeling overwhelmed?' gives a calm reset.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7772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3D2E"/>
                </a:solidFill>
                <a:latin typeface="Segoe UI"/>
              </a:rPr>
              <a:t>Running live on Azure OpenAI (in your tenant) — and personalised to each user.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DIFFERENTIATION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Why NeuroSync, not Copilot / ChatGPT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2024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560320"/>
                <a:gridCol w="2560320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anchor="ctr" marL="128016" marR="128016" marT="45720" marB="45720">
                    <a:solidFill>
                      <a:srgbClr val="0F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NeuroSync</a:t>
                      </a:r>
                    </a:p>
                  </a:txBody>
                  <a:tcPr anchor="ctr" marL="128016" marR="128016" marT="45720" marB="45720">
                    <a:solidFill>
                      <a:srgbClr val="0F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Copilot / ChatGPT</a:t>
                      </a:r>
                    </a:p>
                  </a:txBody>
                  <a:tcPr anchor="ctr" marL="128016" marR="128016" marT="45720" marB="45720">
                    <a:solidFill>
                      <a:srgbClr val="0F3D2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11827"/>
                          </a:solidFill>
                          <a:latin typeface="Segoe UI"/>
                        </a:rPr>
                        <a:t>Adapts output to your cognitive profile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5B616E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11827"/>
                          </a:solidFill>
                          <a:latin typeface="Segoe UI"/>
                        </a:rPr>
                        <a:t>Helps you START, not just understand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5B616E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11827"/>
                          </a:solidFill>
                          <a:latin typeface="Segoe UI"/>
                        </a:rPr>
                        <a:t>In-the-moment regulation (overwhelm reset)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5B616E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11827"/>
                          </a:solidFill>
                          <a:latin typeface="Segoe UI"/>
                        </a:rPr>
                        <a:t>Runs on enterprise data + governance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66534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9A6A00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ETHICS &amp; INCLUSION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Responsible and inclusive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No diagnosis, no labels — support is an opt-in user choice, never an assumption.</a:t>
            </a:r>
          </a:p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Human-in-the-loop — the AI suggests; the person edits and approves. Nothing auto-acts.</a:t>
            </a:r>
          </a:p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Sourced nudges — wellbeing prompts are based on recognised, published techniques.</a:t>
            </a:r>
          </a:p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Privacy by design — enterprise data stays within enterprise governance.</a:t>
            </a:r>
          </a:p>
          <a:p>
            <a:pPr algn="l">
              <a:spcAft>
                <a:spcPts val="13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Inclusive by default — calm UI, dyslexia font, high contrast, reduced motion for everyone.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FEASIBILITY &amp; SECURITY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Real today — and enterprise-ready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Working MVP on Azure: React + ASP.NET Core + SQL + Azure OpenAI — Tasks, Projects, the Summarizer, and per-user personalization are all live.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Real Outlook integration via Microsoft Graph (email -&gt; AI-broken-down task).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Security: in production the AI runs on Azure OpenAI inside our tenant — client data never leaves Accenture's compliance boundary; self-hosted open models for the most sensitive data.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The AI sits behind an interface, so switching providers is a config change, not a rewrite.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11827"/>
                </a:solidFill>
                <a:latin typeface="Segoe UI"/>
              </a:rPr>
              <a:t>•   Scales as a lightweight enterprise layer; the adaptive engine extends to more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276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5B616E"/>
                </a:solidFill>
                <a:latin typeface="Segoe UI"/>
              </a:rPr>
              <a:t>Source: Architecture &amp; security detail: repo docs/SECURITY-AND-AI.md and docs/OUTLOOK-INTEGRATION.md.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ACTING ON YOUR FEEDBACK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How we sharpened it since the last review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789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217920"/>
              </a:tblGrid>
              <a:tr h="57476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Your feedback</a:t>
                      </a:r>
                    </a:p>
                  </a:txBody>
                  <a:tcPr anchor="ctr" marL="128016" marR="128016" marT="45720" marB="45720">
                    <a:solidFill>
                      <a:srgbClr val="0F3D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What we changed</a:t>
                      </a:r>
                    </a:p>
                  </a:txBody>
                  <a:tcPr anchor="ctr" marL="128016" marR="128016" marT="45720" marB="45720">
                    <a:solidFill>
                      <a:srgbClr val="0F3D2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5B616E"/>
                          </a:solidFill>
                          <a:latin typeface="Segoe UI"/>
                        </a:rPr>
                        <a:t>No clear problem statement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11827"/>
                          </a:solidFill>
                          <a:latin typeface="Segoe UI"/>
                        </a:rPr>
                        <a:t>Problem-first story (Aanya) + a one-line problem and business impact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5B616E"/>
                          </a:solidFill>
                          <a:latin typeface="Segoe UI"/>
                        </a:rPr>
                        <a:t>Target audience too vague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11827"/>
                          </a:solidFill>
                          <a:latin typeface="Segoe UI"/>
                        </a:rPr>
                        <a:t>Accenture employees with ADHD/dyslexia — a named persona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5B616E"/>
                          </a:solidFill>
                          <a:latin typeface="Segoe UI"/>
                        </a:rPr>
                        <a:t>'Productivity' implies they're less productive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11827"/>
                          </a:solidFill>
                          <a:latin typeface="Segoe UI"/>
                        </a:rPr>
                        <a:t>Reframed as an inclusive companion that removes friction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5B616E"/>
                          </a:solidFill>
                          <a:latin typeface="Segoe UI"/>
                        </a:rPr>
                        <a:t>Overlaps with Copilot / ChatGPT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11827"/>
                          </a:solidFill>
                          <a:latin typeface="Segoe UI"/>
                        </a:rPr>
                        <a:t>Three concrete USPs the incumbents don't combine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5B616E"/>
                          </a:solidFill>
                          <a:latin typeface="Segoe UI"/>
                        </a:rPr>
                        <a:t>Needs validation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11827"/>
                          </a:solidFill>
                          <a:latin typeface="Segoe UI"/>
                        </a:rPr>
                        <a:t>User interviews + credible, cited research</a:t>
                      </a:r>
                    </a:p>
                  </a:txBody>
                  <a:tcPr anchor="ctr" marL="128016" marR="128016" marT="45720" marB="45720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5B616E"/>
                          </a:solidFill>
                          <a:latin typeface="Segoe UI"/>
                        </a:rPr>
                        <a:t>Name not justified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11827"/>
                          </a:solidFill>
                          <a:latin typeface="Segoe UI"/>
                        </a:rPr>
                        <a:t>Neuro + Sync = sync work to how your brain works</a:t>
                      </a:r>
                    </a:p>
                  </a:txBody>
                  <a:tcPr anchor="ctr" marL="128016" marR="128016" marT="45720" marB="45720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WHAT'S NEXT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From prototype to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56432" cy="3657600"/>
          </a:xfrm>
          <a:prstGeom prst="roundRect">
            <a:avLst/>
          </a:prstGeom>
          <a:solidFill>
            <a:srgbClr val="F6F9F8"/>
          </a:solidFill>
          <a:ln w="12700">
            <a:solidFill>
              <a:srgbClr val="D9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F3D2E"/>
                </a:solidFill>
                <a:latin typeface="Segoe UI"/>
              </a:rPr>
              <a:t>NOW — working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AI task breakdown + summarizer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Per-user personalization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Projects + due dates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Outlook email -&gt; task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Azure OpenAI in-tenant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456432" cy="3657600"/>
          </a:xfrm>
          <a:prstGeom prst="roundRect">
            <a:avLst/>
          </a:prstGeom>
          <a:solidFill>
            <a:srgbClr val="F6F9F8"/>
          </a:solidFill>
          <a:ln w="12700">
            <a:solidFill>
              <a:srgbClr val="D9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F3D2E"/>
                </a:solidFill>
                <a:latin typeface="Segoe UI"/>
              </a:rPr>
              <a:t>NEXT — 1-3 months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Validated pilot with a neurodiversity ERG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Teams &amp; Jira connectors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More language / low-vision profiles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920240"/>
            <a:ext cx="3456432" cy="3657600"/>
          </a:xfrm>
          <a:prstGeom prst="roundRect">
            <a:avLst/>
          </a:prstGeom>
          <a:solidFill>
            <a:srgbClr val="F6F9F8"/>
          </a:solidFill>
          <a:ln w="12700">
            <a:solidFill>
              <a:srgbClr val="D9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F3D2E"/>
                </a:solidFill>
                <a:latin typeface="Segoe UI"/>
              </a:rPr>
              <a:t>LATER — scale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More language profiles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Low-vision / screen-reader modes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11827"/>
                </a:solidFill>
                <a:latin typeface="Segoe UI"/>
              </a:rPr>
              <a:t>•  Manager insights (privacy-safe)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Aanya doesn't need to be fixed. Her workday does.</a:t>
            </a:r>
          </a:p>
          <a:p>
            <a:pPr algn="l">
              <a:spcAft>
                <a:spcPts val="2200"/>
              </a:spcAft>
            </a:pPr>
            <a:r>
              <a:rPr sz="2000" b="0" i="0">
                <a:solidFill>
                  <a:srgbClr val="22C55E"/>
                </a:solidFill>
                <a:latin typeface="Segoe UI"/>
              </a:rPr>
              <a:t>NeuroSync levels the playing field — quietly, respectfully, and at scale.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"/>
              </a:rPr>
              <a:t>Our ask: help us pilot NeuroSync with a neurodiversity employee resource group.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NeuroSync  ·  Work, in sync with how you think.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C55E"/>
                </a:solidFill>
                <a:latin typeface="Segoe UI"/>
              </a:rPr>
              <a:t>CREDIBILITY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F3D2E"/>
                </a:solidFill>
                <a:latin typeface="Segoe UI"/>
              </a:rPr>
              <a:t>Sources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1.  Accenture — 'Getting to Equal: The Disability Inclusion Advantage' (2018)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2"/>
              </a:rPr>
              <a:t>https://www.accenture.com/_acnmedia/pdf-89/accenture-disability-inclusion-research-report.pdf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2.  Accenture / Disability:IN / AAPD — 'The Disability Inclusion Imperative' (2023)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3"/>
              </a:rPr>
              <a:t>https://newsroom.accenture.com/news/2023/companies-that-lead-in-disability-inclusion-outperform-peers-financially-reveals-new-research-from-accenture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3.  Government of India — Rights of Persons with Disabilities Act, 2016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4"/>
              </a:rPr>
              <a:t>https://legislative.gov.in/sites/default/files/A2016-49.pdf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4.  nasscom — 'Neurodiversity and the Future of Work in India'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5"/>
              </a:rPr>
              <a:t>https://community.nasscom.in/communities/neurodiversity/neurodiversity-and-future-work-india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5.  HRKatha — 'The 85% invisibility: Why India's neurodiverse talent stays hidden' (2024-25)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6"/>
              </a:rPr>
              <a:t>https://www.hrkatha.com/features/research/the-85-invisibility-why-indias-neurodiverse-talent-stays-hidden/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6.  Frontiers in Psychology (2025) — universal support for neurodivergent employees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7"/>
              </a:rPr>
              <a:t>https://www.frontiersin.org/journals/psychology/articles/10.3389/fpsyg.2025.1547877/full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7.  Branicki et al. — Human Resource Management, Wiley (2024)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8"/>
              </a:rPr>
              <a:t>https://onlinelibrary.wiley.com/doi/10.1002/hrm.22243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8.  mydisabilityjobs.com — 'Neurodiversity in the Workplace | Statistics' (2025)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9"/>
              </a:rPr>
              <a:t>https://mydisabilityjobs.com/statistics/neurodiversity-in-the-workplace/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9.  Disability:IN — evidence-based neuroinclusion framework — </a:t>
            </a:r>
            <a:r>
              <a:rPr sz="1050" b="0" i="0">
                <a:solidFill>
                  <a:srgbClr val="22C55E"/>
                </a:solidFill>
                <a:latin typeface="Segoe UI"/>
                <a:hlinkClick r:id="rId10"/>
              </a:rPr>
              <a:t>https://disabilityin.org/articles-and-updates/disability-in-unveils-innovative-evidence-based-framework-to-advance-neuroinclusion-in-the-workforce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B616E"/>
                </a:solidFill>
                <a:latin typeface="Segoe UI"/>
              </a:rPr>
              <a:t>Tier-1 sources (Accenture / industry bodies / peer-reviewed) are prioritised; verify exact figures against primary sources before the final.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327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B616E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