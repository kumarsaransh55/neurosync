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1142085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00000"/>
                </a:solidFill>
                <a:latin typeface="Segoe UI"/>
              </a:rPr>
              <a:t>NeuroSync — Slide 1 (Submission Summary)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868680"/>
            <a:ext cx="11420856" cy="9326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Problem Statement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Employees with ADHD and dyslexia spend far more energy turning everyday workplace text — emails, chats, tickets — into started, finished work. Tasks, deadlines and priorities hide inside long messages, creating a hidden “cognitive tax” that drives missed priorities, cognitive overload and burnout — not from lack of ability, but because mainstream tools assume one way of processing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847088"/>
            <a:ext cx="11420856" cy="475488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/>
            <a:r>
              <a:rPr sz="1100" b="1" i="1">
                <a:solidFill>
                  <a:srgbClr val="FFFFFF"/>
                </a:solidFill>
                <a:latin typeface="Segoe UI"/>
              </a:rPr>
              <a:t>Who is this solution Servicing:  </a:t>
            </a:r>
            <a:r>
              <a:rPr sz="1000" b="0" i="1">
                <a:solidFill>
                  <a:srgbClr val="FFFFFF"/>
                </a:solidFill>
                <a:latin typeface="Segoe UI"/>
              </a:rPr>
              <a:t>Accenture knowledge-workers who are neurodivergent — primarily ADHD and dyslexia (they co-occur in ~1 in 2 people; 15–20% of people are neurodivergent). Champions/buyers: Inclusion &amp; Diversity and HR.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377440"/>
            <a:ext cx="11411712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/>
            <a:r>
              <a:rPr sz="1050" b="1" i="0">
                <a:solidFill>
                  <a:srgbClr val="460073"/>
                </a:solidFill>
                <a:latin typeface="Segoe UI"/>
              </a:rPr>
              <a:t>Solution Description and How it helps:  </a:t>
            </a:r>
            <a:r>
              <a:rPr sz="1000" b="0" i="0">
                <a:solidFill>
                  <a:srgbClr val="460073"/>
                </a:solidFill>
                <a:latin typeface="Segoe UI"/>
              </a:rPr>
              <a:t>NeuroSync is an inclusive work companion that turns workplace communication into clarity and momentum — adapted to each person’s brain. A one-time profile makes the SAME email render as time-boxed micro-steps (ADHD) or short, plain, dyslexia-friendly text. It closes the gap from understanding AND doing: summarise → break into steps → prioritise → focus timer → execute. “Built for your brain” — not one generic chatbot answer for everyone.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3383280"/>
            <a:ext cx="11411712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60073"/>
                </a:solidFill>
                <a:latin typeface="Segoe UI"/>
              </a:rPr>
              <a:t>Impact and Success Measures: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460073"/>
                </a:solidFill>
                <a:latin typeface="Segoe UI"/>
              </a:rPr>
              <a:t>•  Faster task initiation; fewer missed deadlines and priorities (less re-reading, less overwhelm)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460073"/>
                </a:solidFill>
                <a:latin typeface="Segoe UI"/>
              </a:rPr>
              <a:t>•  Lower burnout, absence and ‘masking’; better engagement and retention of neurodivergent talent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460073"/>
                </a:solidFill>
                <a:latin typeface="Segoe UI"/>
              </a:rPr>
              <a:t>•  Metrics: time-to-first-action, on-time completion, self-reported overwhelm, pilot adoption &amp; retention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460073"/>
                </a:solidFill>
                <a:latin typeface="Segoe UI"/>
              </a:rPr>
              <a:t>•  Business case: Accenture research links disability-inclusion leadership to higher revenue &amp; profitability (see appendix)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85032" y="4416552"/>
            <a:ext cx="0" cy="2167128"/>
          </a:xfrm>
          <a:prstGeom prst="line">
            <a:avLst/>
          </a:prstGeom>
          <a:ln w="12700">
            <a:solidFill>
              <a:srgbClr val="96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47304" y="4416552"/>
            <a:ext cx="0" cy="2167128"/>
          </a:xfrm>
          <a:prstGeom prst="line">
            <a:avLst/>
          </a:prstGeom>
          <a:ln w="12700">
            <a:solidFill>
              <a:srgbClr val="96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9184" y="4343400"/>
            <a:ext cx="2889504" cy="233172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Segoe UI"/>
              </a:rPr>
              <a:t>AI Architecture: How AI is integrated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Segoe UI"/>
              </a:rPr>
              <a:t>•  Inputs: user’s email/doc/Outlook text + opt-in personalization profile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Segoe UI"/>
              </a:rPr>
              <a:t>•  Models: Azure OpenAI (GPT-5.5), hosted in your Azure tenant; behind a provider-agnostic, swappable interface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Segoe UI"/>
              </a:rPr>
              <a:t>•  Outputs: summary, action items, deadlines, adaptive micro-steps + time estimates, dyslexia rewrite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Segoe UI"/>
              </a:rPr>
              <a:t>•  Guardrails: opt-in, no diagnosis, human-in-the-loop, data stays in tenant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416" y="4343400"/>
            <a:ext cx="2889504" cy="2331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Scope of your Solution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Phase 1: Pilot with a neurodiversity ERG (1 business unit)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Phase 2: Org-wide on Azure; Outlook + Teams + Jira/ADO connectors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Phase 3: More accessibility profiles (low-vision, language); privacy-safe manager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42248" y="4343400"/>
            <a:ext cx="2889504" cy="2331720"/>
          </a:xfrm>
          <a:prstGeom prst="rect">
            <a:avLst/>
          </a:prstGeom>
          <a:solidFill>
            <a:srgbClr val="B4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Accuracy testing of your solution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Human-in-the-loop: AI is a draft; user edits &amp; approves; original source always one click away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Personalization tested across profiles: same input → different, profile-correct output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•  Planned: task-quality review with ERG users; structured-output validation; latency/error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