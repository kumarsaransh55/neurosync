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7668" autoAdjust="0"/>
    <p:restoredTop sz="94660"/>
  </p:normalViewPr>
  <p:slideViewPr>
    <p:cSldViewPr snapToGrid="0" snapToObjects="1">
      <p:cViewPr>
        <p:scale>
          <a:sx n="100" d="100"/>
          <a:sy n="100" d="100"/>
        </p:scale>
        <p:origin x="1734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dhdevidence.org/blog/new-global-estimate-of-adult-adhd-prevalence-a-comprehensive-review" TargetMode="External"/><Relationship Id="rId2" Type="http://schemas.openxmlformats.org/officeDocument/2006/relationships/hyperlink" Target="https://link.springer.com/article/10.1186/s11689-019-9287-8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newsroom.accenture.com/news/2023/companies-that-lead-in-disability-inclusion-outperform-peers-financially-reveals-new-research-from-accenture" TargetMode="External"/><Relationship Id="rId4" Type="http://schemas.openxmlformats.org/officeDocument/2006/relationships/hyperlink" Target="https://dyslexia.yale.edu/dyslexia/dyslexia-faq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219456"/>
            <a:ext cx="11420856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bIns="36576" rtlCol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 i="0" dirty="0" err="1">
                <a:solidFill>
                  <a:srgbClr val="000000"/>
                </a:solidFill>
                <a:latin typeface="Segoe UI"/>
              </a:rPr>
              <a:t>NeuroSync</a:t>
            </a:r>
            <a:r>
              <a:rPr sz="2400" b="1" i="0" dirty="0">
                <a:solidFill>
                  <a:srgbClr val="000000"/>
                </a:solidFill>
                <a:latin typeface="Segoe UI"/>
              </a:rPr>
              <a:t> (Submission Summary)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" y="731520"/>
            <a:ext cx="11420856" cy="896112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bIns="36576" rtlCol="0" anchor="t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Problem Statement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0" i="0" dirty="0">
                <a:solidFill>
                  <a:srgbClr val="FFFFFF"/>
                </a:solidFill>
                <a:latin typeface="Segoe UI"/>
              </a:rPr>
              <a:t>People with ADHD and dyslexia have to work much harder to turn everyday work messages — long emails, chats and tickets — into finished work. Tasks and deadlines stay hidden inside long text. That extra mental effort is a hidden “cognitive tax” that leads to missed priorities, overload and burnout. The problem isn’t their ability — it’s that most work tools are built for only one way of thinking.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1664208"/>
            <a:ext cx="11420856" cy="804672"/>
          </a:xfrm>
          <a:prstGeom prst="rect">
            <a:avLst/>
          </a:prstGeom>
          <a:solidFill>
            <a:srgbClr val="75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bIns="36576" rtlCol="0" anchor="t"/>
          <a:lstStyle/>
          <a:p>
            <a:pPr>
              <a:spcAft>
                <a:spcPts val="200"/>
              </a:spcAft>
            </a:pPr>
            <a:r>
              <a:rPr sz="1050" b="1" u="none" dirty="0">
                <a:solidFill>
                  <a:srgbClr val="FFFFFF"/>
                </a:solidFill>
                <a:latin typeface="Segoe UI"/>
              </a:rPr>
              <a:t>Who is this solution Servicing:  </a:t>
            </a:r>
            <a:r>
              <a:rPr sz="950" b="0" u="none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Accenture employees who are neurodivergent. </a:t>
            </a:r>
            <a:r>
              <a:rPr lang="en-US" sz="95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— primarily ADHD and dyslexia (they co-occur in ~1 in 2 people </a:t>
            </a:r>
            <a:r>
              <a:rPr lang="en-US" sz="95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lang="en-US" sz="95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sz="95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); 10–15% of people are neurodivergent (</a:t>
            </a:r>
            <a:r>
              <a:rPr lang="en-US" sz="95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ADHD</a:t>
            </a:r>
            <a:r>
              <a:rPr lang="en-US" sz="95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 </a:t>
            </a:r>
            <a:r>
              <a:rPr lang="en-US" sz="95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Dyslexia</a:t>
            </a:r>
            <a:r>
              <a:rPr lang="en-US" sz="95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95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)).</a:t>
            </a:r>
            <a:r>
              <a:rPr sz="950" b="0" u="none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950" b="0" dirty="0">
                <a:solidFill>
                  <a:srgbClr val="E2E1DA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HR and the Inclusion &amp; Diversity (I&amp;D) team, who own employee wellbeing and inclusion.</a:t>
            </a:r>
            <a:endParaRPr sz="950" b="0" u="none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20040" y="2505456"/>
            <a:ext cx="11411712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460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bIns="36576" rtlCol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 u="none" dirty="0">
                <a:solidFill>
                  <a:srgbClr val="460073"/>
                </a:solidFill>
                <a:latin typeface="Segoe UI"/>
              </a:rPr>
              <a:t>Solution Description and How it helps:  </a:t>
            </a:r>
            <a:endParaRPr lang="en-US" sz="1050" b="1" i="0" u="none" dirty="0">
              <a:solidFill>
                <a:srgbClr val="460073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 u="none" dirty="0" err="1">
                <a:solidFill>
                  <a:srgbClr val="460073"/>
                </a:solidFill>
                <a:latin typeface="Segoe UI"/>
              </a:rPr>
              <a:t>NeuroSync</a:t>
            </a:r>
            <a:r>
              <a:rPr sz="950" b="0" i="0" u="none" dirty="0">
                <a:solidFill>
                  <a:srgbClr val="460073"/>
                </a:solidFill>
                <a:latin typeface="Segoe UI"/>
              </a:rPr>
              <a:t> is an inclusive work companion that turns any work input — a long email, a document, an Outlook message, or a big task you type in — into clear, doable steps adapted to how your brain works. You set a short profile once; after that the SAME content is shown your way (ADHD → short, time-boxed micro-steps with a focus timer; dyslexia → short, plain, bulleted, dyslexia-friendly text). It closes the gap from understanding AND doing: it </a:t>
            </a:r>
            <a:r>
              <a:rPr sz="950" b="0" i="0" u="none" dirty="0" err="1">
                <a:solidFill>
                  <a:srgbClr val="460073"/>
                </a:solidFill>
                <a:latin typeface="Segoe UI"/>
              </a:rPr>
              <a:t>summarises</a:t>
            </a:r>
            <a:r>
              <a:rPr sz="950" b="0" i="0" u="none" dirty="0">
                <a:solidFill>
                  <a:srgbClr val="460073"/>
                </a:solidFill>
                <a:latin typeface="Segoe UI"/>
              </a:rPr>
              <a:t> the message, pulls out the real action items and hidden deadlines, breaks them into small steps, helps you </a:t>
            </a:r>
            <a:r>
              <a:rPr sz="950" b="0" i="0" u="none" dirty="0" err="1">
                <a:solidFill>
                  <a:srgbClr val="460073"/>
                </a:solidFill>
                <a:latin typeface="Segoe UI"/>
              </a:rPr>
              <a:t>prioritise</a:t>
            </a:r>
            <a:r>
              <a:rPr sz="950" b="0" i="0" u="none" dirty="0">
                <a:solidFill>
                  <a:srgbClr val="460073"/>
                </a:solidFill>
                <a:latin typeface="Segoe UI"/>
              </a:rPr>
              <a:t> what to do first, runs a one-step-at-a-time focus timer, and tracks progress as you finish — built for your brain, not one generic answer for everyone.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3675888"/>
            <a:ext cx="11411712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460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bIns="36576" rtlCol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 dirty="0">
                <a:solidFill>
                  <a:srgbClr val="460073"/>
                </a:solidFill>
                <a:latin typeface="Segoe UI"/>
              </a:rPr>
              <a:t>Impact and Success Measures: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 u="none" dirty="0">
                <a:solidFill>
                  <a:srgbClr val="16834A"/>
                </a:solidFill>
                <a:latin typeface="Segoe UI"/>
              </a:rPr>
              <a:t>↑  </a:t>
            </a:r>
            <a:r>
              <a:rPr sz="950" b="0" i="0" u="none" dirty="0">
                <a:solidFill>
                  <a:srgbClr val="460073"/>
                </a:solidFill>
                <a:latin typeface="Segoe UI"/>
              </a:rPr>
              <a:t>Faster task initiation · better focus &amp; follow-through · higher engagement and retention of neurodivergent talent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 u="none" dirty="0">
                <a:solidFill>
                  <a:srgbClr val="C0392B"/>
                </a:solidFill>
                <a:latin typeface="Segoe UI"/>
              </a:rPr>
              <a:t>↓  </a:t>
            </a:r>
            <a:r>
              <a:rPr sz="950" b="0" i="0" u="none" dirty="0">
                <a:solidFill>
                  <a:srgbClr val="460073"/>
                </a:solidFill>
                <a:latin typeface="Segoe UI"/>
              </a:rPr>
              <a:t>Less burnout, absence and “masking” · fewer missed deadlines and priorities · less re-reading and overload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 u="none" dirty="0">
                <a:solidFill>
                  <a:srgbClr val="460073"/>
                </a:solidFill>
                <a:latin typeface="Segoe UI"/>
              </a:rPr>
              <a:t>Business case </a:t>
            </a:r>
            <a:r>
              <a:rPr sz="950" b="1" i="0" u="none" dirty="0">
                <a:solidFill>
                  <a:srgbClr val="1D4ED8"/>
                </a:solidFill>
                <a:latin typeface="Segoe UI"/>
                <a:hlinkClick r:id="rId5"/>
              </a:rPr>
              <a:t>(Accenture, 2023)</a:t>
            </a:r>
            <a:r>
              <a:rPr sz="950" b="0" i="0" u="none" dirty="0">
                <a:solidFill>
                  <a:srgbClr val="460073"/>
                </a:solidFill>
                <a:latin typeface="Segoe UI"/>
              </a:rPr>
              <a:t>: companies leading in disability inclusion saw 1.6× revenue, 2.6× net income and 2× economic profit vs. peers.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85032" y="4590288"/>
            <a:ext cx="0" cy="2139696"/>
          </a:xfrm>
          <a:prstGeom prst="line">
            <a:avLst/>
          </a:prstGeom>
          <a:ln w="12700">
            <a:solidFill>
              <a:srgbClr val="9696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147304" y="4590288"/>
            <a:ext cx="0" cy="2139696"/>
          </a:xfrm>
          <a:prstGeom prst="line">
            <a:avLst/>
          </a:prstGeom>
          <a:ln w="12700">
            <a:solidFill>
              <a:srgbClr val="9696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29184" y="4626864"/>
            <a:ext cx="2889504" cy="2139696"/>
          </a:xfrm>
          <a:prstGeom prst="rect">
            <a:avLst/>
          </a:prstGeom>
          <a:solidFill>
            <a:srgbClr val="BE8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bIns="36576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Segoe UI"/>
              </a:rPr>
              <a:t>AI Architecture: How AI is integrated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 dirty="0">
                <a:solidFill>
                  <a:srgbClr val="000000"/>
                </a:solidFill>
                <a:latin typeface="Segoe UI"/>
              </a:rPr>
              <a:t>•  Inputs: your email, document, Outlook message or a task you type — plus your opt-in profile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 dirty="0">
                <a:solidFill>
                  <a:srgbClr val="000000"/>
                </a:solidFill>
                <a:latin typeface="Segoe UI"/>
              </a:rPr>
              <a:t>•  Models: Azure OpenAI (GPT-5.5), in your Azure tenant; provider-agnostic, swappable interface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 dirty="0">
                <a:solidFill>
                  <a:srgbClr val="000000"/>
                </a:solidFill>
                <a:latin typeface="Segoe UI"/>
              </a:rPr>
              <a:t>•  Outputs: plain summary, action items, hidden deadlines, adaptive micro-steps + time estimates, dyslexia rewrite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 dirty="0">
                <a:solidFill>
                  <a:srgbClr val="000000"/>
                </a:solidFill>
                <a:latin typeface="Segoe UI"/>
              </a:rPr>
              <a:t>•  Guardrails: privacy-first; no identity inference; opt-in (no diagnosis); human-in-the-loop; data never leaves your tenant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1416" y="4626864"/>
            <a:ext cx="2889504" cy="213969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bIns="36576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 dirty="0">
                <a:solidFill>
                  <a:schemeClr val="bg1"/>
                </a:solidFill>
                <a:latin typeface="Segoe UI"/>
              </a:rPr>
              <a:t>Scope of your Solution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 dirty="0">
                <a:solidFill>
                  <a:schemeClr val="bg1"/>
                </a:solidFill>
                <a:latin typeface="Segoe UI"/>
              </a:rPr>
              <a:t>•  Phase 1: Pilot with a neurodiversity Employee Resource Group (ERG), in one business unit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 dirty="0">
                <a:solidFill>
                  <a:schemeClr val="bg1"/>
                </a:solidFill>
                <a:latin typeface="Segoe UI"/>
              </a:rPr>
              <a:t>•  Phase 2: Org-wide on Azure; Outlook + Teams + Jira / Azure DevOps connectors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 dirty="0">
                <a:solidFill>
                  <a:schemeClr val="bg1"/>
                </a:solidFill>
                <a:latin typeface="Segoe UI"/>
              </a:rPr>
              <a:t>•  Phase 3: </a:t>
            </a:r>
            <a:r>
              <a:rPr sz="900" b="0" i="0" dirty="0" err="1">
                <a:solidFill>
                  <a:schemeClr val="bg1"/>
                </a:solidFill>
                <a:latin typeface="Segoe UI"/>
              </a:rPr>
              <a:t>Behaviour</a:t>
            </a:r>
            <a:r>
              <a:rPr sz="900" b="0" i="0" dirty="0">
                <a:solidFill>
                  <a:schemeClr val="bg1"/>
                </a:solidFill>
                <a:latin typeface="Segoe UI"/>
              </a:rPr>
              <a:t>-aware learning, agentic reminders &amp; escalation, more accessibility profiles (low-vision, more languages), privacy-safe manager insights — toward org-wide and external 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42248" y="4626864"/>
            <a:ext cx="2889504" cy="2139696"/>
          </a:xfrm>
          <a:prstGeom prst="rect">
            <a:avLst/>
          </a:prstGeom>
          <a:solidFill>
            <a:srgbClr val="B45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bIns="36576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 dirty="0">
                <a:solidFill>
                  <a:srgbClr val="FFFFFF"/>
                </a:solidFill>
                <a:latin typeface="Segoe UI"/>
              </a:rPr>
              <a:t>Accuracy testing of your solution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 dirty="0">
                <a:solidFill>
                  <a:srgbClr val="FFFFFF"/>
                </a:solidFill>
                <a:latin typeface="Segoe UI"/>
              </a:rPr>
              <a:t>•  Human-in-the-loop: every AI output is a draft you edit &amp; approve; the original source is one click away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 dirty="0">
                <a:solidFill>
                  <a:srgbClr val="FFFFFF"/>
                </a:solidFill>
                <a:latin typeface="Segoe UI"/>
              </a:rPr>
              <a:t>•  Personalization tested across profiles: the same input gives different, profile-correct output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 dirty="0">
                <a:solidFill>
                  <a:srgbClr val="FFFFFF"/>
                </a:solidFill>
                <a:latin typeface="Segoe UI"/>
              </a:rPr>
              <a:t>•  Not yet tested with end users — planned: task-quality review in the ERG pilot, structured-output checks, latency/error monitoring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586</Words>
  <Application>Microsoft Office PowerPoint</Application>
  <PresentationFormat>Widescreen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Segoe UI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Kumar, Saransh</cp:lastModifiedBy>
  <cp:revision>7</cp:revision>
  <dcterms:created xsi:type="dcterms:W3CDTF">2013-01-27T09:14:16Z</dcterms:created>
  <dcterms:modified xsi:type="dcterms:W3CDTF">2026-06-18T17:10:45Z</dcterms:modified>
  <cp:category/>
</cp:coreProperties>
</file>